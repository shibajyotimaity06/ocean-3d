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077B6"/>
                </a:solidFill>
                <a:latin typeface="Trebuchet MS"/>
              </a:defRPr>
            </a:pPr>
            <a:r>
              <a:t>SMART INDIA HACKATHON 2026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2600" b="1">
                <a:solidFill>
                  <a:srgbClr val="0A2540"/>
                </a:solidFill>
                <a:latin typeface="Trebuchet MS"/>
              </a:defRPr>
            </a:pPr>
            <a:r>
              <a:t>SEABOX : 3D Ocean Data Visualization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Problem Statement ID - </a:t>
            </a:r>
            <a:r>
              <a:rPr sz="1250" b="1">
                <a:solidFill>
                  <a:srgbClr val="0077B6"/>
                </a:solidFill>
                <a:latin typeface="Calibri"/>
              </a:rPr>
              <a:t>SIH26067</a:t>
            </a:r>
            <a:endParaRPr lang="en-US" dirty="0"/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Problem Statement Title - </a:t>
            </a:r>
            <a:r>
              <a:rPr sz="1250" b="1">
                <a:solidFill>
                  <a:srgbClr val="0077B6"/>
                </a:solidFill>
                <a:latin typeface="Calibri"/>
              </a:rPr>
              <a:t>3D Ocean Data Visualization Platform for Model &amp; In-Situ Data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Theme - </a:t>
            </a:r>
            <a:r>
              <a:rPr sz="1250" b="0">
                <a:solidFill>
                  <a:srgbClr val="1E293B"/>
                </a:solidFill>
                <a:latin typeface="Calibri"/>
              </a:rPr>
              <a:t>Smart Automation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PS Category - </a:t>
            </a:r>
            <a:r>
              <a:rPr sz="125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Team ID - </a:t>
            </a:r>
            <a:r>
              <a:rPr sz="1250" b="0">
                <a:solidFill>
                  <a:srgbClr val="1E293B"/>
                </a:solidFill>
                <a:latin typeface="Calibri"/>
              </a:rPr>
              <a:t>57893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Team Name - </a:t>
            </a:r>
            <a:r>
              <a:rPr sz="1250" b="1">
                <a:solidFill>
                  <a:srgbClr val="0077B6"/>
                </a:solidFill>
                <a:latin typeface="Calibri"/>
              </a:rPr>
              <a:t>JAVA AND SCRIPTS</a:t>
            </a:r>
          </a:p>
          <a:p>
            <a:pPr>
              <a:spcAft>
                <a:spcPts val="250"/>
              </a:spcAft>
            </a:pPr>
            <a:r>
              <a:rPr sz="1250" b="1">
                <a:solidFill>
                  <a:srgbClr val="0A2540"/>
                </a:solidFill>
                <a:latin typeface="Calibri"/>
              </a:rPr>
              <a:t>Institution - </a:t>
            </a:r>
            <a:r>
              <a:rPr sz="1250" b="0">
                <a:solidFill>
                  <a:srgbClr val="1E293B"/>
                </a:solidFill>
                <a:latin typeface="Calibri"/>
              </a:rPr>
              <a:t>Dr. Lankapalli Bullayya College of Engineering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Team Members :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1. N Shyam Sundar Chowdary (323136410076) [Leader]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2. L Harshita Prasad (323136410065)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3. Radha (323136410100)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4. Shibajyoti Maity (323136410111)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5. S Pavan Kumar (323136410112)</a:t>
            </a:r>
          </a:p>
          <a:p>
            <a:pPr>
              <a:spcAft>
                <a:spcPts val="25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  6. V Yaswanth (323136410127)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SEABOX : Problem Statement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097280"/>
            <a:ext cx="5303520" cy="50292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0077B6"/>
                </a:solidFill>
                <a:latin typeface="Trebuchet MS"/>
              </a:defRPr>
            </a:pPr>
            <a:r>
              <a:t>UNDERSTANDING THE PROBLEM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INCOIS Big-Data Challenge: </a:t>
            </a:r>
            <a:r>
              <a:rPr sz="1050">
                <a:solidFill>
                  <a:srgbClr val="1E293B"/>
                </a:solidFill>
                <a:latin typeface="Calibri"/>
              </a:rPr>
              <a:t>Processes multi-gigabyte 4D hydrodynamic model grids (HYCOM/ROMS) alongside thousands of autonomous Argo profiling float streams across the Indian Ocean (0–2000m depth).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Disconnected 2D Legacy Tools: </a:t>
            </a:r>
            <a:r>
              <a:rPr sz="1050">
                <a:solidFill>
                  <a:srgbClr val="1E293B"/>
                </a:solidFill>
                <a:latin typeface="Calibri"/>
              </a:rPr>
              <a:t>Existing tools (Panoply, Ocean Data View, ncview) only display isolated 2D horizontal slices or static 1D profile graphs.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Critical Workflow Bottlenecks: </a:t>
            </a:r>
            <a:r>
              <a:rPr sz="1050">
                <a:solidFill>
                  <a:srgbClr val="1E293B"/>
                </a:solidFill>
                <a:latin typeface="Calibri"/>
              </a:rPr>
              <a:t>Zero sub-surface 3D spatial correlation between numerical models and real-time in-situ floats; steep installation barriers and steep learning curves for researchers and maritime operators.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35040" y="1097280"/>
            <a:ext cx="5577840" cy="31089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077B6"/>
                </a:solidFill>
                <a:latin typeface="Trebuchet MS"/>
              </a:defRPr>
            </a:pPr>
            <a:r>
              <a:t>OUR SOLUTION &amp; NOVEL UNIQUENESS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Zero-Install WebGL 3D Platform: </a:t>
            </a:r>
            <a:r>
              <a:rPr sz="1000">
                <a:solidFill>
                  <a:srgbClr val="1E293B"/>
                </a:solidFill>
                <a:latin typeface="Calibri"/>
              </a:rPr>
              <a:t>SEABOX runs directly in any modern browser at 60 FPS, rendering the continuous ocean water column from 0 to 2000m.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In-Situ Argo Co-Visualization: </a:t>
            </a:r>
            <a:r>
              <a:rPr sz="1000">
                <a:solidFill>
                  <a:srgbClr val="1E293B"/>
                </a:solidFill>
                <a:latin typeface="Calibri"/>
              </a:rPr>
              <a:t>Simultaneously renders 3D Argo profiling floats with interactive depth tethers and instant vertical CTD profile graphs.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A2540"/>
                </a:solidFill>
                <a:latin typeface="Calibri"/>
              </a:rPr>
              <a:t>• Dynamic Slicing &amp; Exaggeration: </a:t>
            </a:r>
            <a:r>
              <a:rPr sz="1000">
                <a:solidFill>
                  <a:srgbClr val="1E293B"/>
                </a:solidFill>
                <a:latin typeface="Calibri"/>
              </a:rPr>
              <a:t>Seamless discrete depth layers (0m, 100m, 200m, 500m, 1000m, 2000m) with 1x–50x dynamic vertical scale and Viridis colormaps.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35040" y="4343400"/>
            <a:ext cx="557784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6" name="Picture 15365" descr="qr_code_proto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434840"/>
            <a:ext cx="1600200" cy="160020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7955279" y="443484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SCAN FOR WORKING PROTOTYPE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• Interactive 3D WebGL Hydrodynamic Engine</a:t>
            </a:r>
            <a:br/>
            <a:r>
              <a:t>• Live INCOIS Temperature &amp; Salinity Slicer</a:t>
            </a:r>
            <a:br/>
            <a:r>
              <a:t>• Real-Time Argo Profiler Telemetry</a:t>
            </a:r>
            <a:br/>
            <a:r>
              <a:t>• URL: github.com/shibajyotimaity/SEABOX-OceanView3D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548640" y="1097280"/>
            <a:ext cx="3931920" cy="5029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E11D48"/>
                </a:solidFill>
                <a:latin typeface="Trebuchet MS"/>
              </a:defRPr>
            </a:pPr>
            <a:r>
              <a:t>Understanding The Problem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Data Inaccessibility: </a:t>
            </a:r>
            <a:r>
              <a:rPr sz="900">
                <a:solidFill>
                  <a:srgbClr val="1E293B"/>
                </a:solidFill>
                <a:latin typeface="Calibri"/>
              </a:rPr>
              <a:t>INCOIS handles terabytes of 4D HYCOM model data + thousands of Argo floats across the Indian Ocean (0–2000m) without unified 3D access.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2D Desktop Fragmentation: </a:t>
            </a:r>
            <a:r>
              <a:rPr sz="900">
                <a:solidFill>
                  <a:srgbClr val="1E293B"/>
                </a:solidFill>
                <a:latin typeface="Calibri"/>
              </a:rPr>
              <a:t>Legacy tools (Panoply, ODV, ncview) only display flat 2D horizontal slices or isolated 1D profile graphs.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Zero Subsurface Correlation: </a:t>
            </a:r>
            <a:r>
              <a:rPr sz="900">
                <a:solidFill>
                  <a:srgbClr val="1E293B"/>
                </a:solidFill>
                <a:latin typeface="Calibri"/>
              </a:rPr>
              <a:t>Inability to simultaneously correlate multi-depth numerical models with real-time in-situ floats in 3D continuous space.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Operational Overhead: </a:t>
            </a:r>
            <a:r>
              <a:rPr sz="900">
                <a:solidFill>
                  <a:srgbClr val="1E293B"/>
                </a:solidFill>
                <a:latin typeface="Calibri"/>
              </a:rPr>
              <a:t>Heavy software dependencies, lack of web access, and slow manual format conversions hinder research productivity.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Delayed Decision Making: </a:t>
            </a:r>
            <a:r>
              <a:rPr sz="900">
                <a:solidFill>
                  <a:srgbClr val="1E293B"/>
                </a:solidFill>
                <a:latin typeface="Calibri"/>
              </a:rPr>
              <a:t>Marine forecasters, naval acoustic teams, and fisheries (PFZ) operators cannot quickly inspect thermocline and depth stratification.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617720" y="1097280"/>
            <a:ext cx="3931920" cy="5029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Our Solution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Zero-Install 3D WebGL Engine: </a:t>
            </a:r>
            <a:r>
              <a:rPr sz="900">
                <a:solidFill>
                  <a:srgbClr val="1E293B"/>
                </a:solidFill>
                <a:latin typeface="Calibri"/>
              </a:rPr>
              <a:t>Runs at 60 FPS in any modern browser, rendering the continuous ocean water column from 0 to 2000m depth.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In-Situ Float Co-Visualization: </a:t>
            </a:r>
            <a:r>
              <a:rPr sz="900">
                <a:solidFill>
                  <a:srgbClr val="1E293B"/>
                </a:solidFill>
                <a:latin typeface="Calibri"/>
              </a:rPr>
              <a:t>Simultaneously renders 3D Argo profiling floats with interactive surface tethers and instant vertical CTD profiles.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Dynamic Multi-Tier Depth Slicing: </a:t>
            </a:r>
            <a:r>
              <a:rPr sz="900">
                <a:solidFill>
                  <a:srgbClr val="1E293B"/>
                </a:solidFill>
                <a:latin typeface="Calibri"/>
              </a:rPr>
              <a:t>Instant toggling between depth levels (0m, 100m, 200m, 500m, 1000m, 2000m) with 1x–50x vertical exaggeration.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Dual-Variable Scientific Colormaps: </a:t>
            </a:r>
            <a:r>
              <a:rPr sz="900">
                <a:solidFill>
                  <a:srgbClr val="1E293B"/>
                </a:solidFill>
                <a:latin typeface="Calibri"/>
              </a:rPr>
              <a:t>Live switching between Sea Water Temperature (°C) and Salinity (PSU) with Viridis transfer telemetry.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Autonomous Web Architecture: </a:t>
            </a:r>
            <a:r>
              <a:rPr sz="900">
                <a:solidFill>
                  <a:srgbClr val="1E293B"/>
                </a:solidFill>
                <a:latin typeface="Calibri"/>
              </a:rPr>
              <a:t>Standalone client-side execution ensures lightning-fast exploration without heavy backend compute bottlenecks.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8686800" y="1097280"/>
            <a:ext cx="2926080" cy="29260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 rIns="109728"/>
          <a:lstStyle/>
          <a:p>
            <a:pPr algn="ctr">
              <a:spcAft>
                <a:spcPts val="400"/>
              </a:spcAft>
              <a:defRPr sz="1150" b="1">
                <a:solidFill>
                  <a:srgbClr val="D97706"/>
                </a:solidFill>
                <a:latin typeface="Trebuchet MS"/>
              </a:defRPr>
            </a:pPr>
            <a:r>
              <a:t>Our Unique Solutions (USPs)</a:t>
            </a:r>
          </a:p>
          <a:p>
            <a:pPr>
              <a:spcAft>
                <a:spcPts val="300"/>
              </a:spcAft>
              <a:defRPr sz="880">
                <a:solidFill>
                  <a:srgbClr val="0A2540"/>
                </a:solidFill>
                <a:latin typeface="Calibri"/>
              </a:defRPr>
            </a:pPr>
            <a:r>
              <a:t>• Real-time 3D subsurface volumetric rendering for instant oceanographic insights.</a:t>
            </a:r>
          </a:p>
          <a:p>
            <a:pPr>
              <a:spcAft>
                <a:spcPts val="300"/>
              </a:spcAft>
              <a:defRPr sz="880">
                <a:solidFill>
                  <a:srgbClr val="0A2540"/>
                </a:solidFill>
                <a:latin typeface="Calibri"/>
              </a:defRPr>
            </a:pPr>
            <a:r>
              <a:t>• Zero-dependency web architecture tuned for low-bandwidth marine research.</a:t>
            </a:r>
          </a:p>
          <a:p>
            <a:pPr>
              <a:spcAft>
                <a:spcPts val="300"/>
              </a:spcAft>
              <a:defRPr sz="880">
                <a:solidFill>
                  <a:srgbClr val="0A2540"/>
                </a:solidFill>
                <a:latin typeface="Calibri"/>
              </a:defRPr>
            </a:pPr>
            <a:r>
              <a:t>• Seamless fusion of gridded numerical models (HYCOM) and in-situ floats (Argo).</a:t>
            </a:r>
          </a:p>
          <a:p>
            <a:pPr>
              <a:spcAft>
                <a:spcPts val="300"/>
              </a:spcAft>
              <a:defRPr sz="880">
                <a:solidFill>
                  <a:srgbClr val="0A2540"/>
                </a:solidFill>
                <a:latin typeface="Calibri"/>
              </a:defRPr>
            </a:pPr>
            <a:r>
              <a:t>• Automated vertical CTD profile curves &amp; thermocline diagnostics.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686800" y="4160520"/>
            <a:ext cx="2926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ectangle 15371"/>
          <p:cNvSpPr/>
          <p:nvPr/>
        </p:nvSpPr>
        <p:spPr>
          <a:xfrm>
            <a:off x="8686800" y="4160520"/>
            <a:ext cx="2926080" cy="320040"/>
          </a:xfrm>
          <a:prstGeom prst="rect">
            <a:avLst/>
          </a:prstGeom>
          <a:solidFill>
            <a:srgbClr val="109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rebuchet MS"/>
              </a:defRPr>
            </a:pPr>
            <a:r>
              <a:t>75%+ PROTOTYPE COMPLETED &amp; TESTED!</a:t>
            </a:r>
          </a:p>
        </p:txBody>
      </p:sp>
      <p:pic>
        <p:nvPicPr>
          <p:cNvPr id="15373" name="Picture 15372" descr="qr_code_proto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553712"/>
            <a:ext cx="1188720" cy="1188720"/>
          </a:xfrm>
          <a:prstGeom prst="rect">
            <a:avLst/>
          </a:prstGeom>
        </p:spPr>
      </p:pic>
      <p:sp>
        <p:nvSpPr>
          <p:cNvPr id="15374" name="TextBox 15373"/>
          <p:cNvSpPr txBox="1"/>
          <p:nvPr/>
        </p:nvSpPr>
        <p:spPr>
          <a:xfrm>
            <a:off x="10012680" y="4526280"/>
            <a:ext cx="1554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77B6"/>
                </a:solidFill>
                <a:latin typeface="Trebuchet MS"/>
              </a:defRPr>
            </a:pPr>
            <a:r>
              <a:t>Scan for PROTOTYPE</a:t>
            </a:r>
          </a:p>
          <a:p>
            <a:pPr>
              <a:spcBef>
                <a:spcPts val="200"/>
              </a:spcBef>
              <a:defRPr sz="750">
                <a:solidFill>
                  <a:srgbClr val="475569"/>
                </a:solidFill>
                <a:latin typeface="Calibri"/>
              </a:defRPr>
            </a:pPr>
            <a:r>
              <a:t>• Live WebGL 3D Ocean</a:t>
            </a:r>
            <a:br/>
            <a:r>
              <a:t>• Real-Time Float Profiler</a:t>
            </a:r>
            <a:br/>
            <a:r>
              <a:t>• GitHub Repo Link:</a:t>
            </a:r>
            <a:br/>
            <a:r>
              <a:t>github.com/shibajyotimaity/</a:t>
            </a:r>
            <a:br/>
            <a:r>
              <a:t>SEABOX-OceanView3D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402336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METHODOLOGY &amp; PIPELINE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1. Data Ingestion: </a:t>
            </a:r>
            <a:r>
              <a:rPr sz="900">
                <a:solidFill>
                  <a:srgbClr val="1E293B"/>
                </a:solidFill>
              </a:rPr>
              <a:t>INCOIS HYCOM 3D gridded fields (0–2000m) &amp; live Argo CTD profiles ingested.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2. Normalization &amp; Array Slicing: </a:t>
            </a:r>
            <a:r>
              <a:rPr sz="900">
                <a:solidFill>
                  <a:srgbClr val="1E293B"/>
                </a:solidFill>
              </a:rPr>
              <a:t>NetCDF/binary grids extracted into optimized multi-depth float arrays.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3. WebGL GPU Rendering: </a:t>
            </a:r>
            <a:r>
              <a:rPr sz="900">
                <a:solidFill>
                  <a:srgbClr val="1E293B"/>
                </a:solidFill>
              </a:rPr>
              <a:t>Custom Three.js shaders map physical scalar fields to Viridis colormap textures at 60 FPS.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3566160"/>
            <a:ext cx="402336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TECH STACK (FRONTEND &amp; BACKEND)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Frontend: </a:t>
            </a:r>
            <a:r>
              <a:rPr sz="900">
                <a:solidFill>
                  <a:srgbClr val="1E293B"/>
                </a:solidFill>
              </a:rPr>
              <a:t>Three.js (WebGL 3D Engine), HTML5 Canvas, Vanilla JS ES6+, Vite, CSS3 Glassmorphism.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Backend/Data: </a:t>
            </a:r>
            <a:r>
              <a:rPr sz="900">
                <a:solidFill>
                  <a:srgbClr val="1E293B"/>
                </a:solidFill>
              </a:rPr>
              <a:t>Python (Xarray, NetCDF4, NumPy), REST JSON Streaming, GeoJSON Coastlines.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Scientific Data: </a:t>
            </a:r>
            <a:r>
              <a:rPr sz="900">
                <a:solidFill>
                  <a:srgbClr val="1E293B"/>
                </a:solidFill>
              </a:rPr>
              <a:t>INCOIS Indian Ocean Model, HYCOM Hydrodynamics, Global Argo Program CTD.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UI UX: </a:t>
            </a:r>
            <a:r>
              <a:rPr sz="900">
                <a:solidFill>
                  <a:srgbClr val="1E293B"/>
                </a:solidFill>
              </a:rPr>
              <a:t>Dynamic Depth Chips (0-2000m), Orbit Controls, Responsive Telemetry Bar.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0" y="1097280"/>
            <a:ext cx="68580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846320" y="1143000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Trebuchet MS"/>
              </a:defRPr>
            </a:pPr>
            <a:r>
              <a:t>SEABOX INTERACTIVE UI &amp; 3D DASHBOARD</a:t>
            </a:r>
          </a:p>
        </p:txBody>
      </p:sp>
      <p:pic>
        <p:nvPicPr>
          <p:cNvPr id="17415" name="Picture 17414" descr="ui_dashboard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08760"/>
            <a:ext cx="3931920" cy="2331720"/>
          </a:xfrm>
          <a:prstGeom prst="rect">
            <a:avLst/>
          </a:prstGeom>
        </p:spPr>
      </p:pic>
      <p:pic>
        <p:nvPicPr>
          <p:cNvPr id="17416" name="Picture 17415" descr="ui_depth_200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508760"/>
            <a:ext cx="2606040" cy="2331720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4892040" y="3931920"/>
            <a:ext cx="658368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spcAft>
                <a:spcPts val="300"/>
              </a:spcAft>
              <a:defRPr sz="1150" b="1">
                <a:solidFill>
                  <a:srgbClr val="0077B6"/>
                </a:solidFill>
                <a:latin typeface="Trebuchet MS"/>
              </a:defRPr>
            </a:pPr>
            <a:r>
              <a:t>IMPLEMENTATION FLOW &amp; SCIENTIFIC FEATURES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1: Ingest NetCDF &amp; Argo Telemetry </a:t>
            </a:r>
            <a:r>
              <a:rPr sz="900">
                <a:solidFill>
                  <a:srgbClr val="1E293B"/>
                </a:solidFill>
              </a:rPr>
              <a:t>-&gt; Multi-depth gridded arrays parsed in memory.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2: WebGL GPU Volumetric Generation </a:t>
            </a:r>
            <a:r>
              <a:rPr sz="900">
                <a:solidFill>
                  <a:srgbClr val="1E293B"/>
                </a:solidFill>
              </a:rPr>
              <a:t>-&gt; Layered meshes with Viridis transfer colormaps.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Step 3: Interactive Subsurface Exploration </a:t>
            </a:r>
            <a:r>
              <a:rPr sz="900">
                <a:solidFill>
                  <a:srgbClr val="1E293B"/>
                </a:solidFill>
              </a:rPr>
              <a:t>-&gt; Depth chips (0-2000m), 1x-50x vertical exaggeration, Argo float CTD modal inspection &amp; 60 FPS orbit controls.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1097280"/>
            <a:ext cx="4114800" cy="32918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Methodology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1. Data Ingestion &amp; Extraction: </a:t>
            </a:r>
            <a:r>
              <a:rPr sz="830">
                <a:solidFill>
                  <a:srgbClr val="1E293B"/>
                </a:solidFill>
                <a:latin typeface="Calibri"/>
              </a:rPr>
              <a:t>Ingest INCOIS HYCOM 3D gridded NetCDF4 fields (0–2000m) &amp; live Argo CTD profiles via automated Python pipelines.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2. Signal Preprocessing &amp; Slicing: </a:t>
            </a:r>
            <a:r>
              <a:rPr sz="830">
                <a:solidFill>
                  <a:srgbClr val="1E293B"/>
                </a:solidFill>
                <a:latin typeface="Calibri"/>
              </a:rPr>
              <a:t>Clean missing data, apply depth-level interpolation, and serialize multi-depth arrays into indexed binary JSON streams.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3. Volumetric WebGL GPU Meshing: </a:t>
            </a:r>
            <a:r>
              <a:rPr sz="830">
                <a:solidFill>
                  <a:srgbClr val="1E293B"/>
                </a:solidFill>
                <a:latin typeface="Calibri"/>
              </a:rPr>
              <a:t>Map hydrodynamic scalar fields into Three.js custom vertex shaders with dynamic Viridis transfer functions at 60 FPS.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4. In-Situ Float Synchronization: </a:t>
            </a:r>
            <a:r>
              <a:rPr sz="830">
                <a:solidFill>
                  <a:srgbClr val="1E293B"/>
                </a:solidFill>
                <a:latin typeface="Calibri"/>
              </a:rPr>
              <a:t>Project 3D Argo float positions, calculate vertical depth vectors, and bind interactive CTD curve profile modals.</a:t>
            </a:r>
          </a:p>
          <a:p>
            <a:pPr>
              <a:spcAft>
                <a:spcPts val="2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5. Decision &amp; Scientific Analytics: </a:t>
            </a:r>
            <a:r>
              <a:rPr sz="830">
                <a:solidFill>
                  <a:srgbClr val="1E293B"/>
                </a:solidFill>
                <a:latin typeface="Calibri"/>
              </a:rPr>
              <a:t>Orbit controls, instant depth slice switches, 1x–50x exaggeration sliders, and automated lat/lon hover raycasting.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4480560"/>
            <a:ext cx="4114800" cy="1645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Tech Stack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Frontend: </a:t>
            </a:r>
            <a:r>
              <a:rPr sz="830">
                <a:solidFill>
                  <a:srgbClr val="1E293B"/>
                </a:solidFill>
                <a:latin typeface="Calibri"/>
              </a:rPr>
              <a:t>Three.js (WebGL 3D Engine), HTML5 Canvas, Vanilla JS ES6+, Vite, CSS3 Glassmorphism.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Backend &amp; Ingestion: </a:t>
            </a:r>
            <a:r>
              <a:rPr sz="830">
                <a:solidFill>
                  <a:srgbClr val="1E293B"/>
                </a:solidFill>
                <a:latin typeface="Calibri"/>
              </a:rPr>
              <a:t>Python (Xarray, NetCDF4, NumPy), REST JSON Streaming, GeoJSON Coastlines.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Scientific Data: </a:t>
            </a:r>
            <a:r>
              <a:rPr sz="830">
                <a:solidFill>
                  <a:srgbClr val="1E293B"/>
                </a:solidFill>
                <a:latin typeface="Calibri"/>
              </a:rPr>
              <a:t>INCOIS Indian Ocean Model, HYCOM Hydrodynamics, Global Argo GDAC.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800600" y="1097280"/>
            <a:ext cx="6812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892040" y="11430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540"/>
                </a:solidFill>
                <a:latin typeface="Trebuchet MS"/>
              </a:defRPr>
            </a:pPr>
            <a:r>
              <a:t>User Interface: Interactive 3D Hydrodynamic Dashboard</a:t>
            </a:r>
          </a:p>
        </p:txBody>
      </p:sp>
      <p:pic>
        <p:nvPicPr>
          <p:cNvPr id="17422" name="Picture 174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508760"/>
            <a:ext cx="3931920" cy="2514600"/>
          </a:xfrm>
          <a:prstGeom prst="rect">
            <a:avLst/>
          </a:prstGeom>
        </p:spPr>
      </p:pic>
      <p:pic>
        <p:nvPicPr>
          <p:cNvPr id="17423" name="Picture 174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1508760"/>
            <a:ext cx="2606040" cy="2514600"/>
          </a:xfrm>
          <a:prstGeom prst="rect">
            <a:avLst/>
          </a:prstGeom>
        </p:spPr>
      </p:pic>
      <p:sp>
        <p:nvSpPr>
          <p:cNvPr id="17424" name="Rounded Rectangle 17423"/>
          <p:cNvSpPr/>
          <p:nvPr/>
        </p:nvSpPr>
        <p:spPr>
          <a:xfrm>
            <a:off x="4800600" y="4480560"/>
            <a:ext cx="6812280" cy="1645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spcAft>
                <a:spcPts val="2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Implementation Flow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Phase 1: Ingestion &amp; Parsing </a:t>
            </a:r>
            <a:r>
              <a:rPr sz="830">
                <a:solidFill>
                  <a:srgbClr val="1E293B"/>
                </a:solidFill>
                <a:latin typeface="Calibri"/>
              </a:rPr>
              <a:t>-&gt; Automatic fetch of INCOIS NetCDF / Argo FTP feeds.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Phase 2: Array Preprocessing &amp; Slicing </a:t>
            </a:r>
            <a:r>
              <a:rPr sz="830">
                <a:solidFill>
                  <a:srgbClr val="1E293B"/>
                </a:solidFill>
                <a:latin typeface="Calibri"/>
              </a:rPr>
              <a:t>-&gt; Memory-mapped depth matrices (0–2000m).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Phase 3: WebGL GPU Rendering </a:t>
            </a:r>
            <a:r>
              <a:rPr sz="830">
                <a:solidFill>
                  <a:srgbClr val="1E293B"/>
                </a:solidFill>
                <a:latin typeface="Calibri"/>
              </a:rPr>
              <a:t>-&gt; Subsurface 3D column, Viridis colormaps, Argo markers.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Phase 4: Analytics &amp; Interaction </a:t>
            </a:r>
            <a:r>
              <a:rPr sz="830">
                <a:solidFill>
                  <a:srgbClr val="1E293B"/>
                </a:solidFill>
                <a:latin typeface="Calibri"/>
              </a:rPr>
              <a:t>-&gt; CTD profile curves, depth chips, 1x–50x exaggeration.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6035040" cy="50292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5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OPERATIONAL &amp; SCIENTIFIC BENEFITS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70%+ Faster Analysis Turnaround: </a:t>
            </a:r>
            <a:r>
              <a:rPr sz="950">
                <a:solidFill>
                  <a:srgbClr val="1E293B"/>
                </a:solidFill>
              </a:rPr>
              <a:t>Replaces 4+ fragmented desktop GIS / NetCDF viewers with an instantaneous 3D browser workspace.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Thermocline &amp; Upwelling Insight: </a:t>
            </a:r>
            <a:r>
              <a:rPr sz="950">
                <a:solidFill>
                  <a:srgbClr val="1E293B"/>
                </a:solidFill>
              </a:rPr>
              <a:t>Instant volumetric visibility into thermocline gradients, mixed-layer dynamics, and marine heatwave propagation.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Real-Time Float Validation: </a:t>
            </a:r>
            <a:r>
              <a:rPr sz="950">
                <a:solidFill>
                  <a:srgbClr val="1E293B"/>
                </a:solidFill>
              </a:rPr>
              <a:t>Empowers INCOIS scientists to cross-validate HYCOM numerical forecasts against physical in-situ Argo floats.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ECONOMIC &amp; STRATEGIC GAINS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Blue Economy &amp; Fisheries (PFZ): </a:t>
            </a:r>
            <a:r>
              <a:rPr sz="950">
                <a:solidFill>
                  <a:srgbClr val="1E293B"/>
                </a:solidFill>
              </a:rPr>
              <a:t>Provides high-resolution subsurface habitat telemetry directly supporting coastal fishermen and maritime advisories.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Sovereign Strategic Security: </a:t>
            </a:r>
            <a:r>
              <a:rPr sz="950">
                <a:solidFill>
                  <a:srgbClr val="1E293B"/>
                </a:solidFill>
              </a:rPr>
              <a:t>Aids Indian Navy acoustic depth channel / sonar shadow zone planning through 3D temperature-salinity stratification.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A2540"/>
                </a:solidFill>
              </a:rPr>
              <a:t>• Zero Licensing Overhead: </a:t>
            </a:r>
            <a:r>
              <a:rPr sz="950">
                <a:solidFill>
                  <a:srgbClr val="1E293B"/>
                </a:solidFill>
              </a:rPr>
              <a:t>100% open-source web stack deployable on national sovereign cloud infrastructures.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766560" y="1097280"/>
            <a:ext cx="484632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impact_pi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234440"/>
            <a:ext cx="4663440" cy="393192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85800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0A2540"/>
                </a:solidFill>
                <a:latin typeface="Calibri"/>
              </a:defRPr>
            </a:pPr>
            <a:r>
              <a:t>Key Takeaway: SEABOX drives a 35% boost in rapid oceanographic event detection and saves over 15+ hours per researcher weekly in multi-sensor data correlation.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1097280"/>
            <a:ext cx="3931920" cy="5029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5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Potential Impact on Ocean Scientists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• Rapid Thermocline Detection: </a:t>
            </a:r>
            <a:r>
              <a:rPr sz="900">
                <a:solidFill>
                  <a:srgbClr val="1E293B"/>
                </a:solidFill>
                <a:latin typeface="Calibri"/>
              </a:rPr>
              <a:t>Identifies mixed-layer depth, internal waves, and marine heatwaves in real-time 3D space.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• In-Situ Float Validation: </a:t>
            </a:r>
            <a:r>
              <a:rPr sz="900">
                <a:solidFill>
                  <a:srgbClr val="1E293B"/>
                </a:solidFill>
                <a:latin typeface="Calibri"/>
              </a:rPr>
              <a:t>Directly cross-validates numerical model outputs against physical Argo CTD measurements.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• Zero-Friction Workflow: </a:t>
            </a:r>
            <a:r>
              <a:rPr sz="900">
                <a:solidFill>
                  <a:srgbClr val="1E293B"/>
                </a:solidFill>
                <a:latin typeface="Calibri"/>
              </a:rPr>
              <a:t>Eliminates multi-software context switching, reducing researcher analysis time by over 70%.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• Collaborative Research: </a:t>
            </a:r>
            <a:r>
              <a:rPr sz="900">
                <a:solidFill>
                  <a:srgbClr val="1E293B"/>
                </a:solidFill>
                <a:latin typeface="Calibri"/>
              </a:rPr>
              <a:t>Browser-native access allows instant data sharing between INCOIS, IMD, NIOT, and universities.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• Enhanced Situational Awareness: </a:t>
            </a:r>
            <a:r>
              <a:rPr sz="900">
                <a:solidFill>
                  <a:srgbClr val="1E293B"/>
                </a:solidFill>
                <a:latin typeface="Calibri"/>
              </a:rPr>
              <a:t>Provides operational forecasters with immediate volumetric ocean state views.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617720" y="1097280"/>
            <a:ext cx="3749039" cy="5029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5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Economic and Strategic Gains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Mission Cost Savings: </a:t>
            </a:r>
            <a:r>
              <a:rPr sz="900">
                <a:solidFill>
                  <a:srgbClr val="1E293B"/>
                </a:solidFill>
                <a:latin typeface="Calibri"/>
              </a:rPr>
              <a:t>Prevents expensive redundant proprietary GIS licenses, saving crores in institutional software costs.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Blue Economy &amp; Fisheries (PFZ): </a:t>
            </a:r>
            <a:r>
              <a:rPr sz="900">
                <a:solidFill>
                  <a:srgbClr val="1E293B"/>
                </a:solidFill>
                <a:latin typeface="Calibri"/>
              </a:rPr>
              <a:t>Optimizes potential fishing zone advisories, saving diesel and search time for 40+ lakh fishermen.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Naval Strategic Security: </a:t>
            </a:r>
            <a:r>
              <a:rPr sz="900">
                <a:solidFill>
                  <a:srgbClr val="1E293B"/>
                </a:solidFill>
                <a:latin typeface="Calibri"/>
              </a:rPr>
              <a:t>Aids Indian Navy acoustic depth channel and sonar shadow zone planning through 3D stratification maps.</a:t>
            </a:r>
          </a:p>
          <a:p>
            <a:pPr>
              <a:spcAft>
                <a:spcPts val="400"/>
              </a:spcAft>
            </a:pPr>
            <a:r>
              <a:rPr sz="950" b="1">
                <a:solidFill>
                  <a:srgbClr val="0A2540"/>
                </a:solidFill>
                <a:latin typeface="Calibri"/>
              </a:rPr>
              <a:t>Sovereign Cloud Deployment: </a:t>
            </a:r>
            <a:r>
              <a:rPr sz="900">
                <a:solidFill>
                  <a:srgbClr val="1E293B"/>
                </a:solidFill>
                <a:latin typeface="Calibri"/>
              </a:rPr>
              <a:t>Open-source web architecture deployable on National Knowledge Network and sovereign servers.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503920" y="1097280"/>
            <a:ext cx="3108960" cy="2011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09728" rIns="109728"/>
          <a:lstStyle/>
          <a:p>
            <a:pPr algn="ctr">
              <a:spcAft>
                <a:spcPts val="300"/>
              </a:spcAft>
              <a:defRPr sz="1150" b="1">
                <a:solidFill>
                  <a:srgbClr val="0077B6"/>
                </a:solidFill>
                <a:latin typeface="Trebuchet MS"/>
              </a:defRPr>
            </a:pPr>
            <a:r>
              <a:t>Mission &amp; Operational Benefits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A2540"/>
                </a:solidFill>
                <a:latin typeface="Calibri"/>
              </a:rPr>
              <a:t>• Risk Reduction: </a:t>
            </a:r>
            <a:r>
              <a:rPr sz="850">
                <a:solidFill>
                  <a:srgbClr val="1E293B"/>
                </a:solidFill>
                <a:latin typeface="Calibri"/>
              </a:rPr>
              <a:t>Minimizes errors in maritime storm surge &amp; cyclone intensity forecasts.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0A2540"/>
                </a:solidFill>
                <a:latin typeface="Calibri"/>
              </a:rPr>
              <a:t>• Continuous Monitoring: </a:t>
            </a:r>
            <a:r>
              <a:rPr sz="850">
                <a:solidFill>
                  <a:srgbClr val="1E293B"/>
                </a:solidFill>
                <a:latin typeface="Calibri"/>
              </a:rPr>
              <a:t>Automated pipeline keeps ocean models and float data constantly synchronized.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503920" y="3246120"/>
            <a:ext cx="3108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impact_pi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291840"/>
            <a:ext cx="292608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5303520" cy="237744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FEASIBILITY &amp; VIABILITY ANALYSIS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Technical: </a:t>
            </a:r>
            <a:r>
              <a:rPr sz="900">
                <a:solidFill>
                  <a:srgbClr val="1E293B"/>
                </a:solidFill>
              </a:rPr>
              <a:t>Native WebGL 2.0 supported on 99.4% of modern desktop &amp; mobile browsers without plugins.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Operational: </a:t>
            </a:r>
            <a:r>
              <a:rPr sz="900">
                <a:solidFill>
                  <a:srgbClr val="1E293B"/>
                </a:solidFill>
              </a:rPr>
              <a:t>Directly compatible with standardized NetCDF/CF-1.8 metadata formats used at INCOIS/MoES.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Financial: </a:t>
            </a:r>
            <a:r>
              <a:rPr sz="900">
                <a:solidFill>
                  <a:srgbClr val="1E293B"/>
                </a:solidFill>
              </a:rPr>
              <a:t>Zero proprietary GIS licensing costs; lightweight static edge deployment reduces server bills.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035040" y="1097280"/>
            <a:ext cx="55778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3" name="Picture 17412" descr="before_after_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143000"/>
            <a:ext cx="5394960" cy="228600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548640" y="3611880"/>
            <a:ext cx="5303520" cy="25146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WHAT-IF RESILIENCE SCENARIOS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network is low bandwidth? </a:t>
            </a:r>
            <a:r>
              <a:rPr sz="900">
                <a:solidFill>
                  <a:srgbClr val="1E293B"/>
                </a:solidFill>
              </a:rPr>
              <a:t>Progressive LOD (Level of Detail) data chunking with indexed binary arrays.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float data has missing cycles? </a:t>
            </a:r>
            <a:r>
              <a:rPr sz="900">
                <a:solidFill>
                  <a:srgbClr val="1E293B"/>
                </a:solidFill>
              </a:rPr>
              <a:t>Automatic scientific NaN interpolation and quality-flag visual indicators.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What if massive high-res grids load? </a:t>
            </a:r>
            <a:r>
              <a:rPr sz="900">
                <a:solidFill>
                  <a:srgbClr val="1E293B"/>
                </a:solidFill>
              </a:rPr>
              <a:t>GPU instanced mesh slicing with Web Worker background decompression.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035040" y="3611880"/>
            <a:ext cx="5577840" cy="25146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STRATEGIES TO OVERCOME CHALLENGES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WebGL Memory Optimization: </a:t>
            </a:r>
            <a:r>
              <a:rPr sz="900">
                <a:solidFill>
                  <a:srgbClr val="1E293B"/>
                </a:solidFill>
              </a:rPr>
              <a:t>Shared buffer attributes and memory disposal hooks guarantee 60 FPS across low-tier hardware.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Interoperability Pipelines: </a:t>
            </a:r>
            <a:r>
              <a:rPr sz="900">
                <a:solidFill>
                  <a:srgbClr val="1E293B"/>
                </a:solidFill>
              </a:rPr>
              <a:t>Standard OGC WMS/GeoTIFF export bridges allow researchers to export 3D viewports to GIS tools.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0A2540"/>
                </a:solidFill>
              </a:rPr>
              <a:t>• Automated INCOIS Telemetry Ingestion: </a:t>
            </a:r>
            <a:r>
              <a:rPr sz="900">
                <a:solidFill>
                  <a:srgbClr val="1E293B"/>
                </a:solidFill>
              </a:rPr>
              <a:t>Python backend crons pull latest HYCOM &amp; Argo GDAC FTP feeds automatically.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48640" y="1097280"/>
            <a:ext cx="5486400" cy="24688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Analysis of the feasibility of the idea: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01. Proven WebGL Base: </a:t>
            </a:r>
            <a:r>
              <a:rPr sz="830">
                <a:solidFill>
                  <a:srgbClr val="1E293B"/>
                </a:solidFill>
                <a:latin typeface="Calibri"/>
              </a:rPr>
              <a:t>Standard Three.js WebGL 2.0 supported on 99.4% of modern desktop &amp; mobile browsers.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02. Hardware Compatibility: </a:t>
            </a:r>
            <a:r>
              <a:rPr sz="830">
                <a:solidFill>
                  <a:srgbClr val="1E293B"/>
                </a:solidFill>
                <a:latin typeface="Calibri"/>
              </a:rPr>
              <a:t>Client-side GPU acceleration runs smoothly on budget laptops and tablets.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03. Scalability: </a:t>
            </a:r>
            <a:r>
              <a:rPr sz="830">
                <a:solidFill>
                  <a:srgbClr val="1E293B"/>
                </a:solidFill>
                <a:latin typeface="Calibri"/>
              </a:rPr>
              <a:t>Expandable from Temperature &amp; Salinity to ocean currents, dissolved oxygen, and chlorophyll.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04. Training/Data Ingestion: </a:t>
            </a:r>
            <a:r>
              <a:rPr sz="830">
                <a:solidFill>
                  <a:srgbClr val="1E293B"/>
                </a:solidFill>
                <a:latin typeface="Calibri"/>
              </a:rPr>
              <a:t>Directly parses standardized CF-1.8 compliant NetCDF4 and Argo GDAC formats.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05. Operational Reliability: </a:t>
            </a:r>
            <a:r>
              <a:rPr sz="830">
                <a:solidFill>
                  <a:srgbClr val="1E293B"/>
                </a:solidFill>
                <a:latin typeface="Calibri"/>
              </a:rPr>
              <a:t>Zero-install standalone client architecture ensures uninterrupted uptime.</a:t>
            </a:r>
          </a:p>
          <a:p>
            <a:pPr>
              <a:spcAft>
                <a:spcPts val="15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06. Resource Efficiency: </a:t>
            </a:r>
            <a:r>
              <a:rPr sz="830">
                <a:solidFill>
                  <a:srgbClr val="1E293B"/>
                </a:solidFill>
                <a:latin typeface="Calibri"/>
              </a:rPr>
              <a:t>Lightweight memory disposal hooks maintain stable 60 FPS without memory leaks.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17920" y="1097280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8" name="Picture 17417" descr="before_after_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143000"/>
            <a:ext cx="5303520" cy="2377440"/>
          </a:xfrm>
          <a:prstGeom prst="rect">
            <a:avLst/>
          </a:prstGeom>
        </p:spPr>
      </p:pic>
      <p:sp>
        <p:nvSpPr>
          <p:cNvPr id="17419" name="Rounded Rectangle 17418"/>
          <p:cNvSpPr/>
          <p:nvPr/>
        </p:nvSpPr>
        <p:spPr>
          <a:xfrm>
            <a:off x="548640" y="3703320"/>
            <a:ext cx="5486400" cy="24231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D97706"/>
                </a:solidFill>
                <a:latin typeface="Trebuchet MS"/>
              </a:defRPr>
            </a:pPr>
            <a:r>
              <a:t>WHAT IFs....?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Network bandwidth is low? </a:t>
            </a:r>
            <a:r>
              <a:rPr sz="830">
                <a:solidFill>
                  <a:srgbClr val="1E293B"/>
                </a:solidFill>
                <a:latin typeface="Calibri"/>
              </a:rPr>
              <a:t>-&gt; Progressive LOD chunking &amp; indexed binary arrays enable instant loading.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Float data has missing cycles? </a:t>
            </a:r>
            <a:r>
              <a:rPr sz="830">
                <a:solidFill>
                  <a:srgbClr val="1E293B"/>
                </a:solidFill>
                <a:latin typeface="Calibri"/>
              </a:rPr>
              <a:t>-&gt; Automated NaN spline interpolation &amp; sensor quality flags maintain fidelity.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Low-end hardware is used? </a:t>
            </a:r>
            <a:r>
              <a:rPr sz="830">
                <a:solidFill>
                  <a:srgbClr val="1E293B"/>
                </a:solidFill>
                <a:latin typeface="Calibri"/>
              </a:rPr>
              <a:t>-&gt; Dynamic vertex instancing &amp; shader LOD ensure fluid 60 FPS.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Massive high-res grids load? </a:t>
            </a:r>
            <a:r>
              <a:rPr sz="830">
                <a:solidFill>
                  <a:srgbClr val="1E293B"/>
                </a:solidFill>
                <a:latin typeface="Calibri"/>
              </a:rPr>
              <a:t>-&gt; Web Workers handle background decompression without freezing UI.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• Users need GIS tool export? </a:t>
            </a:r>
            <a:r>
              <a:rPr sz="830">
                <a:solidFill>
                  <a:srgbClr val="1E293B"/>
                </a:solidFill>
                <a:latin typeface="Calibri"/>
              </a:rPr>
              <a:t>-&gt; Built-in GeoTIFF / GeoJSON and standard image export bridges.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17920" y="3703320"/>
            <a:ext cx="5394960" cy="24231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spcAft>
                <a:spcPts val="300"/>
              </a:spcAft>
              <a:defRPr sz="1200" b="1">
                <a:solidFill>
                  <a:srgbClr val="0077B6"/>
                </a:solidFill>
                <a:latin typeface="Trebuchet MS"/>
              </a:defRPr>
            </a:pPr>
            <a:r>
              <a:t>Strategies to Overcome Challenges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1. WebGL Memory &amp; Frame-Rate Constraints
</a:t>
            </a:r>
            <a:r>
              <a:rPr sz="800">
                <a:solidFill>
                  <a:srgbClr val="1E293B"/>
                </a:solidFill>
                <a:latin typeface="Calibri"/>
              </a:rPr>
              <a:t>Challenge: Rendering multi-layer 3D grids can strain GPU memory.
Strategy: Implement shared geometry buffer attributes, frustum culling, and texture compression.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2. Ingestion Latency of Large NetCDF Datasets
</a:t>
            </a:r>
            <a:r>
              <a:rPr sz="800">
                <a:solidFill>
                  <a:srgbClr val="1E293B"/>
                </a:solidFill>
                <a:latin typeface="Calibri"/>
              </a:rPr>
              <a:t>Challenge: Parsing multi-GB raw ocean model files in real-time.
Strategy: Pre-process depth levels into lightweight indexed binary arrays using Python Xarray.</a:t>
            </a:r>
          </a:p>
          <a:p>
            <a:pPr>
              <a:spcAft>
                <a:spcPts val="2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3. Multi-Sensor Coordinate Alignment
</a:t>
            </a:r>
            <a:r>
              <a:rPr sz="800">
                <a:solidFill>
                  <a:srgbClr val="1E293B"/>
                </a:solidFill>
                <a:latin typeface="Calibri"/>
              </a:rPr>
              <a:t>Challenge: In-situ floats and numerical model grids use different spatial resolutions.
Strategy: Unified lat/lon bounding projections with automated depth interpolation.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FEATURE COMPARISON &amp; RESEARCH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JAVA AND</a:t>
            </a:r>
          </a:p>
          <a:p>
            <a:pPr algn="ctr">
              <a:defRPr sz="950" b="1">
                <a:solidFill>
                  <a:srgbClr val="0A2540"/>
                </a:solidFill>
                <a:latin typeface="Calibri"/>
              </a:defRPr>
            </a:pPr>
            <a:r>
              <a:t>SCRIPTS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097280"/>
            <a:ext cx="11064240" cy="5029200"/>
          </a:xfrm>
          <a:prstGeom prst="roundRect">
            <a:avLst/>
          </a:prstGeom>
          <a:solidFill>
            <a:srgbClr val="F5F8FC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ACADEMIC &amp; SCIENTIFIC RESEARCH FOUNDATIONS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1. INCOIS Ocean State Forecasting System: </a:t>
            </a:r>
            <a:r>
              <a:rPr sz="950">
                <a:solidFill>
                  <a:srgbClr val="1E293B"/>
                </a:solidFill>
              </a:rPr>
              <a:t>Indian National Centre for Ocean Information Services, Ministry of Earth Sciences, Govt. of India. URL: https://incois.gov.in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2. Argo Float Global Data Assembly: </a:t>
            </a:r>
            <a:r>
              <a:rPr sz="950">
                <a:solidFill>
                  <a:srgbClr val="1E293B"/>
                </a:solidFill>
              </a:rPr>
              <a:t>Roemmich, D. et al., 'The Argo Program: Observing the Global Ocean with Profiling Floats', Oceanography 22(2). URL: https://argo.ucsd.edu | https://incois.gov.in/OOS/argo.jsp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3. HYCOM (Hybrid Coordinate Ocean Model): </a:t>
            </a:r>
            <a:r>
              <a:rPr sz="950">
                <a:solidFill>
                  <a:srgbClr val="1E293B"/>
                </a:solidFill>
              </a:rPr>
              <a:t>Bleck, R., 'An oceanic general circulation model framed in isopycnic coordinates', Ocean Modelling. URL: https://www.hycom.org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4. Scientific Visualization &amp; Perceptually Uniform Colormaps: </a:t>
            </a:r>
            <a:r>
              <a:rPr sz="950">
                <a:solidFill>
                  <a:srgbClr val="1E293B"/>
                </a:solidFill>
              </a:rPr>
              <a:t>van der Walt, S., et al., 'Viridis Colormaps for Scientific Visualization', IEEE Computing in Science &amp; Engineering. URL: https://bids.github.io/colormap/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A2540"/>
                </a:solidFill>
              </a:rPr>
              <a:t>5. WebGL 2.0 Specification &amp; Three.js 3D Engine: </a:t>
            </a:r>
            <a:r>
              <a:rPr sz="950">
                <a:solidFill>
                  <a:srgbClr val="1E293B"/>
                </a:solidFill>
              </a:rPr>
              <a:t>Khronos Group WebGL Standards &amp; Three.js Hydrodynamic Volumetric Rendering Pipeline. URL: https://www.khronos.org/webgl/ | https://threejs.org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0077B6"/>
                </a:solidFill>
                <a:latin typeface="Trebuchet MS"/>
              </a:defRPr>
            </a:pPr>
            <a:r>
              <a:t>OFFICIAL PROJECT REPOSITORY &amp; LIVE PROTOTYPE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Working Prototype GitHub Repository: </a:t>
            </a:r>
            <a:r>
              <a:rPr sz="1000">
                <a:solidFill>
                  <a:srgbClr val="0077B6"/>
                </a:solidFill>
              </a:rPr>
              <a:t>https://github.com/shibajyotimaity/SEABOX-OceanView3D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Live WebGL Interactive Application: </a:t>
            </a:r>
            <a:r>
              <a:rPr sz="1000">
                <a:solidFill>
                  <a:srgbClr val="0077B6"/>
                </a:solidFill>
              </a:rPr>
              <a:t>http://localhost:5173/ (OceanView 3D / SeaBox)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A2540"/>
                </a:solidFill>
              </a:rPr>
              <a:t>• Project Submission Format: </a:t>
            </a:r>
            <a:r>
              <a:rPr sz="1000">
                <a:solidFill>
                  <a:srgbClr val="0077B6"/>
                </a:solidFill>
              </a:rPr>
              <a:t>Smart India Hackathon 2026 - Idea Presentation Official Deck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548640" y="1097280"/>
          <a:ext cx="6766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06040"/>
                <a:gridCol w="26060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SEABOX 3D Proposed Platform</a:t>
                      </a:r>
                    </a:p>
                  </a:txBody>
                  <a:tcPr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Existing Conventional Solutions (ODV/Panoply)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Volumetric 3D Subsurface WebGL Engine with multi-layer continuous rendering.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Flat 2D Slices &amp; 1D static profile plots without 3D depth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In-Situ Integration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Simultaneous Real-time Float Co-Visualization with interactive 3D tethers.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Disjoint manual CSV/ODV file imports with no synchronized spatial mapping.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Depth Exploration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Interactive Dynamic Depth Slicing (0–2000m) with 1x–50x exaggeration.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Static pre-rendered cross-sections; cumbersome manual depth filtering.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Platform Accessibility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Zero-Install 100% Browser-Native (works on PCs, tablets, laptops).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Heavy OS-specific desktop installations with complex library dependencies.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Performance / Latency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GPU-Accelerated 60 FPS Rendering (&lt;1 sec depth layer switch).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High CPU latency (&gt;5–15 mins per multi-depth cross-comparison).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A2540"/>
                          </a:solidFill>
                          <a:latin typeface="Calibri"/>
                        </a:defRPr>
                      </a:pPr>
                      <a:r>
                        <a:t>Workflow Efficiency</a:t>
                      </a:r>
                    </a:p>
                  </a:txBody>
                  <a:tcPr>
                    <a:solidFill>
                      <a:srgbClr val="F6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77B6"/>
                          </a:solidFill>
                          <a:latin typeface="Calibri"/>
                        </a:defRPr>
                      </a:pPr>
                      <a:r>
                        <a:t>Unified All-in-One Dashboard replacing 4+ disjoint GIS &amp; NetCDF tools.</a:t>
                      </a:r>
                    </a:p>
                  </a:txBody>
                  <a:tcPr>
                    <a:solidFill>
                      <a:srgbClr val="EB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Fragmented workflows requiring constant data format conversions.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Rounded Rectangle 17412"/>
          <p:cNvSpPr/>
          <p:nvPr/>
        </p:nvSpPr>
        <p:spPr>
          <a:xfrm>
            <a:off x="7498079" y="1097280"/>
            <a:ext cx="4114800" cy="5029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1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spcAft>
                <a:spcPts val="400"/>
              </a:spcAft>
              <a:defRPr sz="1250" b="1">
                <a:solidFill>
                  <a:srgbClr val="0077B6"/>
                </a:solidFill>
                <a:latin typeface="Trebuchet MS"/>
              </a:defRPr>
            </a:pPr>
            <a:r>
              <a:t>RESEARCH &amp; REFERENCES</a:t>
            </a:r>
          </a:p>
          <a:p>
            <a:pPr>
              <a:spcAft>
                <a:spcPts val="300"/>
              </a:spcAft>
              <a:defRPr sz="1050" b="1">
                <a:solidFill>
                  <a:srgbClr val="0A2540"/>
                </a:solidFill>
                <a:latin typeface="Trebuchet MS"/>
              </a:defRPr>
            </a:pPr>
            <a:r>
              <a:t>Research and Datasets references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INCOIS Ocean State Forecast: </a:t>
            </a:r>
            <a:r>
              <a:rPr sz="800">
                <a:solidFill>
                  <a:srgbClr val="1E293B"/>
                </a:solidFill>
                <a:latin typeface="Calibri"/>
              </a:rPr>
              <a:t>Indian National Centre for Ocean Information Services, MoES, Govt. of India.
https://incois.gov.in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Argo Float Global Data Assembly: </a:t>
            </a:r>
            <a:r>
              <a:rPr sz="800">
                <a:solidFill>
                  <a:srgbClr val="1E293B"/>
                </a:solidFill>
                <a:latin typeface="Calibri"/>
              </a:rPr>
              <a:t>Roemmich, D. et al., 'The Argo Program: Observing the Global Ocean with Profiling Floats'.
https://argo.ucsd.edu | https://incois.gov.in/OOS/argo.jsp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HYCOM Hydrodynamic Model: </a:t>
            </a:r>
            <a:r>
              <a:rPr sz="800">
                <a:solidFill>
                  <a:srgbClr val="1E293B"/>
                </a:solidFill>
                <a:latin typeface="Calibri"/>
              </a:rPr>
              <a:t>Bleck, R., 'An oceanic general circulation model in isopycnic coordinates'.
https://www.hycom.org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Scientific Colormaps (Viridis): </a:t>
            </a:r>
            <a:r>
              <a:rPr sz="800">
                <a:solidFill>
                  <a:srgbClr val="1E293B"/>
                </a:solidFill>
                <a:latin typeface="Calibri"/>
              </a:rPr>
              <a:t>van der Walt, S. et al., IEEE Computing in Science &amp; Eng.
https://bids.github.io/colormap/</a:t>
            </a:r>
          </a:p>
          <a:p>
            <a:pPr>
              <a:spcAft>
                <a:spcPts val="300"/>
              </a:spcAft>
            </a:pPr>
            <a:r>
              <a:rPr sz="880" b="1">
                <a:solidFill>
                  <a:srgbClr val="0A2540"/>
                </a:solidFill>
                <a:latin typeface="Calibri"/>
              </a:rPr>
              <a:t>WebGL 2.0 &amp; Three.js 3D Engine: </a:t>
            </a:r>
            <a:r>
              <a:rPr sz="800">
                <a:solidFill>
                  <a:srgbClr val="1E293B"/>
                </a:solidFill>
                <a:latin typeface="Calibri"/>
              </a:rPr>
              <a:t>Khronos Group WebGL Standards &amp; Three.js Hydrodynamics.
https://www.khronos.org/webgl/ | https://threejs.org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 b="1">
                <a:solidFill>
                  <a:srgbClr val="0077B6"/>
                </a:solidFill>
                <a:latin typeface="Trebuchet MS"/>
              </a:defRPr>
            </a:pPr>
            <a:r>
              <a:t>Project Codebase &amp; Prototype Link:</a:t>
            </a:r>
          </a:p>
          <a:p>
            <a:pPr>
              <a:defRPr sz="850" b="1">
                <a:solidFill>
                  <a:srgbClr val="0A2540"/>
                </a:solidFill>
                <a:latin typeface="Calibri"/>
              </a:defRPr>
            </a:pPr>
            <a:r>
              <a:t>• GitHub: https://github.com/shibajyotimaity/SEABOX-OceanView3D</a:t>
            </a:r>
            <a:br/>
            <a:r>
              <a:t>• Live App: http://localhost:5173/ (OceanView 3D / SeaBox)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