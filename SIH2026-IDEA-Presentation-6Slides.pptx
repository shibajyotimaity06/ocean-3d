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91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32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sz="2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 b="1">
                <a:solidFill>
                  <a:srgbClr val="000000"/>
                </a:solidFill>
                <a:latin typeface="Arial"/>
              </a:defRPr>
            </a:pPr>
            <a:r>
              <a:rPr lang="en-IN" sz="2700" dirty="0"/>
              <a:t>JAVA AND SCRIPTS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b="1" sz="2800">
                <a:solidFill>
                  <a:srgbClr val="0B2C5E"/>
                </a:solidFill>
              </a:defRPr>
            </a:pPr>
            <a: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7378769" cy="4282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1200" b="1" dirty="0">
                <a:solidFill>
                  <a:srgbClr val="282828"/>
                </a:solidFill>
                <a:latin typeface="Arial"/>
              </a:rPr>
              <a:t>SIH26067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1200" b="1" dirty="0">
                <a:solidFill>
                  <a:srgbClr val="282828"/>
                </a:solidFill>
                <a:latin typeface="Arial"/>
              </a:rPr>
              <a:t> 3D Ocean Data Visualization Platform for Model &amp; In-Situ Data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Theme &amp; Category- </a:t>
            </a:r>
            <a:r>
              <a:rPr lang="en-US" sz="1200" b="1" dirty="0">
                <a:solidFill>
                  <a:srgbClr val="282828"/>
                </a:solidFill>
                <a:latin typeface="Arial"/>
              </a:rPr>
              <a:t>Smart Automation | Software Edition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rgbClr val="000000"/>
                </a:solidFill>
                <a:latin typeface="Arial"/>
              </a:rPr>
              <a:t>Institution Name: </a:t>
            </a:r>
            <a:r>
              <a:rPr lang="en-IN" sz="1200" b="1" dirty="0">
                <a:solidFill>
                  <a:srgbClr val="282828"/>
                </a:solidFill>
                <a:latin typeface="Arial"/>
              </a:rPr>
              <a:t>Dr. Lankapalli Bullayya College of Engineering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rgbClr val="000000"/>
                </a:solidFill>
                <a:latin typeface="Arial"/>
              </a:rPr>
              <a:t>Team Members (Names):</a:t>
            </a:r>
            <a:endParaRPr lang="en-IN" sz="1200" b="1" dirty="0">
              <a:solidFill>
                <a:srgbClr val="282828"/>
              </a:solidFill>
              <a:latin typeface="Arial"/>
            </a:endParaRPr>
          </a:p>
          <a:p>
            <a:pPr algn="just">
              <a:lnSpc>
                <a:spcPct val="200000"/>
              </a:lnSpc>
            </a:pPr>
            <a:r>
              <a:rPr lang="en-IN" sz="1200" dirty="0">
                <a:solidFill>
                  <a:srgbClr val="282828"/>
                </a:solidFill>
                <a:latin typeface="Arial"/>
              </a:rPr>
              <a:t> 1. N Shyam Sundar Chowdary (323136410076)
  2. L Harshita Prasad (323136410065)
  3. Radha (323136410100)
  4. </a:t>
            </a:r>
            <a:r>
              <a:rPr lang="en-IN" sz="1200" dirty="0" err="1">
                <a:solidFill>
                  <a:srgbClr val="282828"/>
                </a:solidFill>
                <a:latin typeface="Arial"/>
              </a:rPr>
              <a:t>Shibajoyti</a:t>
            </a:r>
            <a:r>
              <a:rPr lang="en-IN" sz="1200" dirty="0">
                <a:solidFill>
                  <a:srgbClr val="282828"/>
                </a:solidFill>
                <a:latin typeface="Arial"/>
              </a:rPr>
              <a:t> Maity (323136410111)
  5. S Pavan Kumar (323136410112)
  6. V Yaswanth (323136410127)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274320"/>
            <a:ext cx="11887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46304" rIns="45720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rPr dirty="0"/>
              <a:t>Java and</a:t>
            </a:r>
            <a:br>
              <a:rPr dirty="0"/>
            </a:br>
            <a:r>
              <a:rPr dirty="0"/>
              <a:t>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Arial"/>
              </a:defRPr>
            </a:pPr>
            <a:r>
              <a:t>Problem Statement &amp;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00" cy="5212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1000"/>
              </a:spcAft>
              <a:defRPr sz="1550" b="1">
                <a:solidFill>
                  <a:srgbClr val="0B2C5E"/>
                </a:solidFill>
                <a:latin typeface="Arial"/>
              </a:defRPr>
            </a:pPr>
            <a:r>
              <a:rPr dirty="0"/>
              <a:t>The Core Oceanographic Dilemma</a:t>
            </a:r>
          </a:p>
          <a:p>
            <a:pPr>
              <a:spcAft>
                <a:spcPts val="700"/>
              </a:spcAft>
            </a:pPr>
            <a:r>
              <a:rPr sz="1250" b="1" dirty="0">
                <a:solidFill>
                  <a:srgbClr val="0F172A"/>
                </a:solidFill>
                <a:latin typeface="Arial"/>
              </a:rPr>
              <a:t>• Problem In Our Words: </a:t>
            </a:r>
            <a:r>
              <a:rPr sz="1250" b="0" dirty="0">
                <a:solidFill>
                  <a:srgbClr val="334155"/>
                </a:solidFill>
                <a:latin typeface="Arial"/>
              </a:rPr>
              <a:t>INCOIS generates terabytes of 4D numerical model data (HYCOM) and collects thousands of in-situ Argo profiling float profiles. Currently, scientists are forced to toggle between disconnected 2D desktop tools with zero sub-surface 3D integration.</a:t>
            </a:r>
          </a:p>
          <a:p>
            <a:pPr>
              <a:spcAft>
                <a:spcPts val="700"/>
              </a:spcAft>
            </a:pPr>
            <a:r>
              <a:rPr sz="1250" b="1" dirty="0">
                <a:solidFill>
                  <a:srgbClr val="0F172A"/>
                </a:solidFill>
                <a:latin typeface="Arial"/>
              </a:rPr>
              <a:t>• Who is Affected: </a:t>
            </a:r>
            <a:r>
              <a:rPr sz="1250" b="0" dirty="0">
                <a:solidFill>
                  <a:srgbClr val="334155"/>
                </a:solidFill>
                <a:latin typeface="Arial"/>
              </a:rPr>
              <a:t>500+ operational ocean scientists and forecasters at INCOIS, IMD, and NIOT; naval maritime planners; and over 40+ lakh marine fishermen relying on daily ocean state advisories.</a:t>
            </a:r>
          </a:p>
          <a:p>
            <a:pPr>
              <a:spcAft>
                <a:spcPts val="700"/>
              </a:spcAft>
            </a:pPr>
            <a:r>
              <a:rPr sz="1250" b="1" dirty="0">
                <a:solidFill>
                  <a:srgbClr val="0F172A"/>
                </a:solidFill>
                <a:latin typeface="Arial"/>
              </a:rPr>
              <a:t>• Current Critical Gaps: </a:t>
            </a:r>
            <a:r>
              <a:rPr sz="1250" b="0" dirty="0">
                <a:solidFill>
                  <a:srgbClr val="334155"/>
                </a:solidFill>
                <a:latin typeface="Arial"/>
              </a:rPr>
              <a:t>Desktop tools (Panoply, ODV, </a:t>
            </a:r>
            <a:r>
              <a:rPr sz="1250" b="0" dirty="0" err="1">
                <a:solidFill>
                  <a:srgbClr val="334155"/>
                </a:solidFill>
                <a:latin typeface="Arial"/>
              </a:rPr>
              <a:t>ncview</a:t>
            </a:r>
            <a:r>
              <a:rPr sz="1250" b="0" dirty="0">
                <a:solidFill>
                  <a:srgbClr val="334155"/>
                </a:solidFill>
                <a:latin typeface="Arial"/>
              </a:rPr>
              <a:t>) only render disconnected 2D horizontal slices or static 1D profiles. They cannot co-visualize multi-depth numerical models alongside in-situ instrument floats in real-time 3D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19456" bIns="201168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  <a:latin typeface="Arial"/>
              </a:defRPr>
            </a:pPr>
            <a:r>
              <a:t>Problem Statement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The Core Challenge: </a:t>
            </a:r>
            <a:r>
              <a:rPr sz="1200" b="0">
                <a:solidFill>
                  <a:srgbClr val="475569"/>
                </a:solidFill>
                <a:latin typeface="Arial"/>
              </a:rPr>
              <a:t>INCOIS produces terabytes of numerical ocean models (HYCOM) and robotic float data (Argo). Currently, scientists must use separate, slow 2D tools (Panoply, ODV) with no 3D sub-surface view.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Operational Bottleneck: </a:t>
            </a:r>
            <a:r>
              <a:rPr sz="1200" b="0">
                <a:solidFill>
                  <a:srgbClr val="475569"/>
                </a:solidFill>
                <a:latin typeface="Arial"/>
              </a:rPr>
              <a:t>Correlating deep-sea temperatures with Argo floats takes 2–4 hours per cyclone or fishing advisory, requiring manual data conversion.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Real-World Impact: </a:t>
            </a:r>
            <a:r>
              <a:rPr sz="1200" b="0">
                <a:solidFill>
                  <a:srgbClr val="475569"/>
                </a:solidFill>
                <a:latin typeface="Arial"/>
              </a:rPr>
              <a:t>Over 28 crore coastal citizens and 40+ lakh fishermen rely on these daily ocean forecasts.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60440E-9D00-C1C9-1210-5F67DB5EE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058" y="1501"/>
            <a:ext cx="1892878" cy="893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274320"/>
            <a:ext cx="11887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46304" rIns="45720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Java and</a:t>
            </a:r>
            <a:br/>
            <a:r>
              <a:t>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Arial"/>
              </a:defRPr>
            </a:pPr>
            <a:r>
              <a:t>Technical Approach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6217920" cy="5212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1000"/>
              </a:spcAft>
              <a:defRPr sz="1550" b="1">
                <a:solidFill>
                  <a:srgbClr val="0B2C5E"/>
                </a:solidFill>
                <a:latin typeface="Arial"/>
              </a:defRPr>
            </a:pPr>
            <a:r>
              <a:t>A Zero-Install 3D Ocean Intelligence Engine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One-Line Description: </a:t>
            </a:r>
            <a:r>
              <a:rPr sz="1200" b="0">
                <a:solidFill>
                  <a:srgbClr val="334155"/>
                </a:solidFill>
                <a:latin typeface="Arial"/>
              </a:rPr>
              <a:t>A high-performance browser-native WebGL 3D oceanographic visualization platform for INCOIS that renders the sub-surface ocean water column (0–2000m) and co-visualizes in-situ Argo floats at 60 FPS.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How It Solves the Problem: </a:t>
            </a:r>
            <a:r>
              <a:rPr sz="1200" b="0">
                <a:solidFill>
                  <a:srgbClr val="334155"/>
                </a:solidFill>
                <a:latin typeface="Arial"/>
              </a:rPr>
              <a:t>Replaces 4+ disjoint desktop tools with a single zero-install web platform. Delivers interactive depth-slice navigation, dynamic vertical exaggeration, and instant CTD vertical profile charts.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Key Differentiator: </a:t>
            </a:r>
            <a:r>
              <a:rPr sz="1200" b="0">
                <a:solidFill>
                  <a:srgbClr val="334155"/>
                </a:solidFill>
                <a:latin typeface="Arial"/>
              </a:rPr>
              <a:t>Unlike standard 2D GIS portals, OceanView 3D is a dedicated sub-surface volumetric engine with 1x–50x dynamic vertical exaggeration and scientific colormap mapping.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Multi-Variable Support: </a:t>
            </a:r>
            <a:r>
              <a:rPr sz="1200" b="0">
                <a:solidFill>
                  <a:srgbClr val="334155"/>
                </a:solidFill>
                <a:latin typeface="Arial"/>
              </a:rPr>
              <a:t>Seamlessly toggles between Sea Water Temperature (°C) and Salinity (PSU) with live scientific Viridis colormap telemetry.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In-Situ Co-Visualization: </a:t>
            </a:r>
            <a:r>
              <a:rPr sz="1200" b="0">
                <a:solidFill>
                  <a:srgbClr val="334155"/>
                </a:solidFill>
                <a:latin typeface="Arial"/>
              </a:rPr>
              <a:t>Accurately maps 3D Argo profiling floats with surface tethers and interactive popup modals.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663440" cy="5212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19456" bIns="201168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  <a:latin typeface="Arial"/>
              </a:defRPr>
            </a:pPr>
            <a:r>
              <a:t>Tech Stack &amp; Implementation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WebGL &amp; Three.js: </a:t>
            </a:r>
            <a:r>
              <a:rPr sz="1200" b="0">
                <a:solidFill>
                  <a:srgbClr val="475569"/>
                </a:solidFill>
                <a:latin typeface="Arial"/>
              </a:rPr>
              <a:t>Direct GPU vertex coloring for smooth 60 FPS rendering on student laptops.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Custom 2D Canvas Chart: </a:t>
            </a:r>
            <a:r>
              <a:rPr sz="1200" b="0">
                <a:solidFill>
                  <a:srgbClr val="475569"/>
                </a:solidFill>
                <a:latin typeface="Arial"/>
              </a:rPr>
              <a:t>Lightweight, built-in depth profile chart (0–2000m) with zero heavy external libraries.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Vector Coastline &amp; Landmarks: </a:t>
            </a:r>
            <a:r>
              <a:rPr sz="1200" b="0">
                <a:solidFill>
                  <a:srgbClr val="475569"/>
                </a:solidFill>
                <a:latin typeface="Arial"/>
              </a:rPr>
              <a:t>High-precision Indian coastline and key port markers (Mumbai, Chennai, Kochi, Vizag, Kolkata).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Real-Time Hover Telemetry: </a:t>
            </a:r>
            <a:r>
              <a:rPr sz="1200" b="0">
                <a:solidFill>
                  <a:srgbClr val="475569"/>
                </a:solidFill>
                <a:latin typeface="Arial"/>
              </a:rPr>
              <a:t>Dual-layer raycasting showing exact coordinates (Lat/Lon) and live ocean values on mouse hover.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43DA4E-FB51-0097-0791-71C148BA3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058" y="1501"/>
            <a:ext cx="1892878" cy="8937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274320"/>
            <a:ext cx="11887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46304" rIns="45720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Java and</a:t>
            </a:r>
            <a:br/>
            <a:r>
              <a:t>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Arial"/>
              </a:defRPr>
            </a:pPr>
            <a:r>
              <a:t>Impact &amp; Key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00" cy="5212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1000"/>
              </a:spcAft>
              <a:defRPr sz="1550" b="1">
                <a:solidFill>
                  <a:srgbClr val="0B2C5E"/>
                </a:solidFill>
                <a:latin typeface="Arial"/>
              </a:defRPr>
            </a:pPr>
            <a:r>
              <a:t>Volumetric Depth Slicing &amp; Exaggeration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✔ 6 Standard Depth Slices: </a:t>
            </a:r>
            <a:r>
              <a:rPr sz="1250" b="0">
                <a:solidFill>
                  <a:srgbClr val="334155"/>
                </a:solidFill>
                <a:latin typeface="Arial"/>
              </a:rPr>
              <a:t>Instant one-click depth navigation across 0m (Surface), 100m, 200m, 500m, 1000m, and 2000m depth planes.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✔ Dynamic Vertical Exaggeration (1x–50x): </a:t>
            </a:r>
            <a:r>
              <a:rPr sz="1250" b="0">
                <a:solidFill>
                  <a:srgbClr val="334155"/>
                </a:solidFill>
                <a:latin typeface="Arial"/>
              </a:rPr>
              <a:t>Smooth real-time slider adjusting vertical Z-axis layer spacing to visually emphasize subtle sub-surface thermocline structures.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✔ Water Column Stacking Mode: </a:t>
            </a:r>
            <a:r>
              <a:rPr sz="1250" b="0">
                <a:solidFill>
                  <a:srgbClr val="334155"/>
                </a:solidFill>
                <a:latin typeface="Arial"/>
              </a:rPr>
              <a:t>Active depth slice renders at 0.95 opacity with glowing neon cyan edge highlights, while background depth planes remain visible at 0.18 opacity for true volumetric context.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✔ Dynamic 3D Bounding Guides: </a:t>
            </a:r>
            <a:r>
              <a:rPr sz="1250" b="0">
                <a:solidFill>
                  <a:srgbClr val="334155"/>
                </a:solidFill>
                <a:latin typeface="Arial"/>
              </a:rPr>
              <a:t>Vertical dashed corner pillars dynamically resize and adapt to the active exaggeration factor, providing an aquarium depth cage.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19456" bIns="201168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  <a:latin typeface="Arial"/>
              </a:defRPr>
            </a:pPr>
            <a:r>
              <a:t>Efficiency &amp; Cost Savings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99% Faster Workflows: </a:t>
            </a:r>
            <a:r>
              <a:rPr sz="1200" b="0">
                <a:solidFill>
                  <a:srgbClr val="475569"/>
                </a:solidFill>
                <a:latin typeface="Arial"/>
              </a:rPr>
              <a:t>Cuts multi-depth data analysis from 2–4 hours down to &lt;5 seconds in a single browser window.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95% Less Bandwidth: </a:t>
            </a:r>
            <a:r>
              <a:rPr sz="1200" b="0">
                <a:solidFill>
                  <a:srgbClr val="475569"/>
                </a:solidFill>
                <a:latin typeface="Arial"/>
              </a:rPr>
              <a:t>Sliced JSON tiles (&lt;120KB) load instantly even on slow 2G/3G mobile networks.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Saves ₹15–25 Lakhs per Lab: </a:t>
            </a:r>
            <a:r>
              <a:rPr sz="1200" b="0">
                <a:solidFill>
                  <a:srgbClr val="475569"/>
                </a:solidFill>
                <a:latin typeface="Arial"/>
              </a:rPr>
              <a:t>Eliminates expensive recurring licenses for proprietary desktop software.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Zero Installation Needed: </a:t>
            </a:r>
            <a:r>
              <a:rPr sz="1200" b="0">
                <a:solidFill>
                  <a:srgbClr val="475569"/>
                </a:solidFill>
                <a:latin typeface="Arial"/>
              </a:rPr>
              <a:t>Runs directly in any modern web browser without installing Python or Fortran tools.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4A7056-EC25-3960-3B2E-77A0FA297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058" y="1501"/>
            <a:ext cx="1892878" cy="893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274320"/>
            <a:ext cx="11887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46304" rIns="45720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Java and</a:t>
            </a:r>
            <a:br/>
            <a:r>
              <a:t>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Arial"/>
              </a:defRPr>
            </a:pPr>
            <a:r>
              <a:t>Comparative Analysis &amp;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00" cy="5212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1000"/>
              </a:spcAft>
              <a:defRPr sz="1550" b="1">
                <a:solidFill>
                  <a:srgbClr val="0B2C5E"/>
                </a:solidFill>
                <a:latin typeface="Arial"/>
              </a:defRPr>
            </a:pPr>
            <a:r>
              <a:t>3D In-Situ Argo Profiling Float Network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✔ 3D Physical Float Positioning: </a:t>
            </a:r>
            <a:r>
              <a:rPr sz="1250" b="0">
                <a:solidFill>
                  <a:srgbClr val="334155"/>
                </a:solidFill>
                <a:latin typeface="Arial"/>
              </a:rPr>
              <a:t>18 active Argo profiling floats accurately positioned at true physical depths (e.g., 75m to 1450m) across the Arabian Sea &amp; Bay of Bengal.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✔ Glowing Float Markers &amp; Halos: </a:t>
            </a:r>
            <a:r>
              <a:rPr sz="1250" b="0">
                <a:solidFill>
                  <a:srgbClr val="334155"/>
                </a:solidFill>
                <a:latin typeface="Arial"/>
              </a:rPr>
              <a:t>Vibrant orange emissive markers with pulsing animated halo rings for rapid spatial identification.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✔ Surface Depth Tethers: </a:t>
            </a:r>
            <a:r>
              <a:rPr sz="1250" b="0">
                <a:solidFill>
                  <a:srgbClr val="334155"/>
                </a:solidFill>
                <a:latin typeface="Arial"/>
              </a:rPr>
              <a:t>Vertical dashed tether lines connecting each float's 3D sub-surface position to the ocean surface (z=0).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✔ Layer Visibility Toggles: </a:t>
            </a:r>
            <a:r>
              <a:rPr sz="1250" b="0">
                <a:solidFill>
                  <a:srgbClr val="334155"/>
                </a:solidFill>
                <a:latin typeface="Arial"/>
              </a:rPr>
              <a:t>Independent UI switches to toggle Argo float markers, water column stack, coastline, and auto-rotation.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19456" bIns="201168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  <a:latin typeface="Arial"/>
              </a:defRPr>
            </a:pPr>
            <a:r>
              <a:t>Comparison with Existing Tools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vs Panoply / ODV: </a:t>
            </a:r>
            <a:r>
              <a:rPr sz="1200" b="0">
                <a:solidFill>
                  <a:srgbClr val="475569"/>
                </a:solidFill>
                <a:latin typeface="Arial"/>
              </a:rPr>
              <a:t>Legacy tools are desktop-only and 2D; OceanView 3D is browser-native, instant, and true 3D.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vs CesiumJS / Leaflet: </a:t>
            </a:r>
            <a:r>
              <a:rPr sz="1200" b="0">
                <a:solidFill>
                  <a:srgbClr val="475569"/>
                </a:solidFill>
                <a:latin typeface="Arial"/>
              </a:rPr>
              <a:t>Standard GIS tools are made for flat land surfaces; they cannot slice 3D sub-surface ocean layers or dynamic depth scales.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Arial"/>
              </a:rPr>
              <a:t>• vs Heavy 3D Apps: </a:t>
            </a:r>
            <a:r>
              <a:rPr sz="1200" b="0">
                <a:solidFill>
                  <a:srgbClr val="475569"/>
                </a:solidFill>
                <a:latin typeface="Arial"/>
              </a:rPr>
              <a:t>Zero bundle bloat; custom canvas charts ensure smooth 60 FPS performance on basic laptops.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0CAEBC-064F-A3B2-422D-B4AD00112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058" y="1501"/>
            <a:ext cx="1892878" cy="8937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274320"/>
            <a:ext cx="11887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46304" rIns="45720"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Java and</a:t>
            </a:r>
            <a:br/>
            <a:r>
              <a:t>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Arial"/>
              </a:defRPr>
            </a:pPr>
            <a:r>
              <a:t>Future Scope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00" cy="5212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1000"/>
              </a:spcAft>
              <a:defRPr sz="1550" b="1">
                <a:solidFill>
                  <a:srgbClr val="0B2C5E"/>
                </a:solidFill>
                <a:latin typeface="Arial"/>
              </a:defRPr>
            </a:pPr>
            <a:r>
              <a:t>Client-Optimized WebGL &amp; Graphics Architecture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• 1. Sub-Millisecond Per-Vertex Colormapping: </a:t>
            </a:r>
            <a:r>
              <a:rPr sz="1250" b="0">
                <a:solidFill>
                  <a:srgbClr val="334155"/>
                </a:solidFill>
                <a:latin typeface="Arial"/>
              </a:rPr>
              <a:t>PlaneGeometry vertex colors computed directly on 40x40 grids, completely eliminating heavy texture upload overhead and GPU fill-rate chokes.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• 2. Zero-Dependency Canvas Chart Renderer: </a:t>
            </a:r>
            <a:r>
              <a:rPr sz="1250" b="0">
                <a:solidFill>
                  <a:srgbClr val="334155"/>
                </a:solidFill>
                <a:latin typeface="Arial"/>
              </a:rPr>
              <a:t>Custom 150-line 2D Canvas CTD chart engine delivering crisp retina-display ocean profile curves with glowing traces at zero bundle size penalty.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• 3. Dual-Layer Spatial Raycasting: </a:t>
            </a:r>
            <a:r>
              <a:rPr sz="1250" b="0">
                <a:solidFill>
                  <a:srgbClr val="334155"/>
                </a:solidFill>
                <a:latin typeface="Arial"/>
              </a:rPr>
              <a:t>Combines 3D sphere hit-testing for in-situ float markers with inverse bilinear geometric mapping for continuous ocean surface scalar readouts.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Arial"/>
              </a:rPr>
              <a:t>• 4. Sustained 60 FPS Performance: </a:t>
            </a:r>
            <a:r>
              <a:rPr sz="1250" b="0">
                <a:solidFill>
                  <a:srgbClr val="334155"/>
                </a:solidFill>
                <a:latin typeface="Arial"/>
              </a:rPr>
              <a:t>Highly optimized WebGL render loop with smooth orbit controls and minimal garbage collection, validated on standard student laptops.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5212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219456" bIns="201168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0284C7"/>
                </a:solidFill>
                <a:latin typeface="Arial"/>
              </a:defRPr>
            </a:pPr>
            <a:r>
              <a:t>Future Scope &amp; AI Roadmap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1. AI Fish Habitat Predictor: </a:t>
            </a:r>
            <a:r>
              <a:rPr sz="1150" b="0">
                <a:solidFill>
                  <a:srgbClr val="475569"/>
                </a:solidFill>
                <a:latin typeface="Arial"/>
              </a:rPr>
              <a:t>Machine Learning model that highlights profitable fishing zones in glowing gold.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2. 'OceanCopilot' Voice AI: </a:t>
            </a:r>
            <a:r>
              <a:rPr sz="1150" b="0">
                <a:solidFill>
                  <a:srgbClr val="475569"/>
                </a:solidFill>
                <a:latin typeface="Arial"/>
              </a:rPr>
              <a:t>Voice assistant giving fishing and depth advisories in 8 Indian languages (Telugu, Tamil, Hindi, etc.).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3. 3D Current Streamlines: </a:t>
            </a:r>
            <a:r>
              <a:rPr sz="1150" b="0">
                <a:solidFill>
                  <a:srgbClr val="475569"/>
                </a:solidFill>
                <a:latin typeface="Arial"/>
              </a:rPr>
              <a:t>Glowing GPU particle flow lines showing ocean currents (u, v, w) and water eddies.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4. Live INCOIS OpenDAP Pipeline: </a:t>
            </a:r>
            <a:r>
              <a:rPr sz="1150" b="0">
                <a:solidFill>
                  <a:srgbClr val="475569"/>
                </a:solidFill>
                <a:latin typeface="Arial"/>
              </a:rPr>
              <a:t>Automated daily backend sync from INCOIS THREDDS data servers.</a:t>
            </a:r>
          </a:p>
          <a:p>
            <a:pPr>
              <a:spcAft>
                <a:spcPts val="7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• 5. Seafloor 3D Bathymetry: </a:t>
            </a:r>
            <a:r>
              <a:rPr sz="1150" b="0">
                <a:solidFill>
                  <a:srgbClr val="475569"/>
                </a:solidFill>
                <a:latin typeface="Arial"/>
              </a:rPr>
              <a:t>Real 3D seabed terrain showing underwater ridges and trenches.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E9DC34-E843-B9D8-C0D1-012244688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058" y="1501"/>
            <a:ext cx="1892878" cy="8937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7526</TotalTime>
  <Words>1978</Words>
  <Application>Microsoft Office PowerPoint</Application>
  <PresentationFormat>Widescreen</PresentationFormat>
  <Paragraphs>112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Yaswanth Vavilapalli</cp:lastModifiedBy>
  <cp:revision>151</cp:revision>
  <dcterms:created xsi:type="dcterms:W3CDTF">2013-12-12T18:46:50Z</dcterms:created>
  <dcterms:modified xsi:type="dcterms:W3CDTF">2026-09-15T06:15:18Z</dcterms:modified>
  <cp:category/>
</cp:coreProperties>
</file>