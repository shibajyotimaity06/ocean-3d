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200" b="1">
                <a:solidFill>
                  <a:srgbClr val="0077B6"/>
                </a:solidFill>
                <a:latin typeface="Trebuchet MS"/>
              </a:defRPr>
            </a:pPr>
            <a:r>
              <a:t>SMART INDIA HACKATHON 2026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2600" b="1">
                <a:solidFill>
                  <a:srgbClr val="0A2540"/>
                </a:solidFill>
                <a:latin typeface="Trebuchet MS"/>
              </a:defRPr>
            </a:pPr>
            <a:r>
              <a:t>SEABOX: 3D OCEAN DATA VISUALIZATION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A2540"/>
                </a:solidFill>
                <a:latin typeface="Calibri"/>
              </a:rPr>
              <a:t>Problem Statement ID : </a:t>
            </a:r>
            <a:r>
              <a:rPr sz="1300" b="1">
                <a:solidFill>
                  <a:srgbClr val="0077B6"/>
                </a:solidFill>
                <a:latin typeface="Calibri"/>
              </a:rPr>
              <a:t>SIH26067</a:t>
            </a:r>
            <a:endParaRPr lang="en-US" dirty="0"/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A2540"/>
                </a:solidFill>
                <a:latin typeface="Calibri"/>
              </a:rPr>
              <a:t>Problem Statement Title : </a:t>
            </a:r>
            <a:r>
              <a:rPr sz="1300" b="1">
                <a:solidFill>
                  <a:srgbClr val="0077B6"/>
                </a:solidFill>
                <a:latin typeface="Calibri"/>
              </a:rPr>
              <a:t>3D Ocean Data Visualization Platform for Model &amp; In-Situ Data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A2540"/>
                </a:solidFill>
                <a:latin typeface="Calibri"/>
              </a:rPr>
              <a:t>Theme &amp; Category : </a:t>
            </a:r>
            <a:r>
              <a:rPr sz="1300" b="0">
                <a:solidFill>
                  <a:srgbClr val="1E293B"/>
                </a:solidFill>
                <a:latin typeface="Calibri"/>
              </a:rPr>
              <a:t>Smart Automation  |  Software Edition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A2540"/>
                </a:solidFill>
                <a:latin typeface="Calibri"/>
              </a:rPr>
              <a:t>Team Name : </a:t>
            </a:r>
            <a:r>
              <a:rPr sz="1300" b="1">
                <a:solidFill>
                  <a:srgbClr val="0077B6"/>
                </a:solidFill>
                <a:latin typeface="Calibri"/>
              </a:rPr>
              <a:t>JAVA AND SCRIPTS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A2540"/>
                </a:solidFill>
                <a:latin typeface="Calibri"/>
              </a:rPr>
              <a:t>Project Name : </a:t>
            </a:r>
            <a:r>
              <a:rPr sz="1300" b="1">
                <a:solidFill>
                  <a:srgbClr val="0077B6"/>
                </a:solidFill>
                <a:latin typeface="Calibri"/>
              </a:rPr>
              <a:t>SEABOX (OceanView 3D)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A2540"/>
                </a:solidFill>
                <a:latin typeface="Calibri"/>
              </a:rPr>
              <a:t>Institution : </a:t>
            </a:r>
            <a:r>
              <a:rPr sz="1300" b="0">
                <a:solidFill>
                  <a:srgbClr val="1E293B"/>
                </a:solidFill>
                <a:latin typeface="Calibri"/>
              </a:rPr>
              <a:t>Dr. Lankapalli Bullayya College of Engineering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Team Members :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  1. N Shyam Sundar Chowdary (323136410076) [Leader]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  2. L Harshita Prasad (323136410065)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  3. Radha (323136410100)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  4. Shibajyoti Maity (323136410111)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  5. S Pavan Kumar (323136410112)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A2540"/>
                </a:solidFill>
                <a:latin typeface="Calibri"/>
              </a:rPr>
              <a:t>  6. V Yaswanth (323136410127)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200" b="1">
                <a:solidFill>
                  <a:srgbClr val="0A2540"/>
                </a:solidFill>
                <a:latin typeface="Trebuchet MS"/>
              </a:defRPr>
            </a:pPr>
            <a:r>
              <a:t>SEABOX: PROBLEM UNDERSTANDING &amp; 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JAVA AND</a:t>
            </a:r>
          </a:p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SCRIPTS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48640" y="1097280"/>
            <a:ext cx="5303520" cy="5029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77B6"/>
                </a:solidFill>
                <a:latin typeface="Trebuchet MS"/>
              </a:defRPr>
            </a:pPr>
            <a:r>
              <a:t>UNDERSTANDING THE PROBLEM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• INCOIS Big-Data Challenge: </a:t>
            </a:r>
            <a:r>
              <a:rPr sz="1050">
                <a:solidFill>
                  <a:srgbClr val="1E293B"/>
                </a:solidFill>
                <a:latin typeface="Calibri"/>
              </a:rPr>
              <a:t>Processes multi-gigabyte 4D hydrodynamic model grids (HYCOM/ROMS) alongside thousands of autonomous Argo profiling float streams across the Indian Ocean (0–2000m depth).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• Disconnected 2D Legacy Tools: </a:t>
            </a:r>
            <a:r>
              <a:rPr sz="1050">
                <a:solidFill>
                  <a:srgbClr val="1E293B"/>
                </a:solidFill>
                <a:latin typeface="Calibri"/>
              </a:rPr>
              <a:t>Existing tools (Panoply, Ocean Data View, ncview) only display isolated 2D horizontal slices or static 1D profile graphs.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• Critical Workflow Bottlenecks: </a:t>
            </a:r>
            <a:r>
              <a:rPr sz="1050">
                <a:solidFill>
                  <a:srgbClr val="1E293B"/>
                </a:solidFill>
                <a:latin typeface="Calibri"/>
              </a:rPr>
              <a:t>Zero sub-surface 3D spatial correlation between numerical models and real-time in-situ floats; steep installation barriers and steep learning curves for researchers and maritime operators.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035040" y="1097280"/>
            <a:ext cx="5577840" cy="3108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077B6"/>
                </a:solidFill>
                <a:latin typeface="Trebuchet MS"/>
              </a:defRPr>
            </a:pPr>
            <a:r>
              <a:t>OUR SOLUTION &amp; NOVEL UNIQUENESS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• Zero-Install WebGL 3D Platform: </a:t>
            </a:r>
            <a:r>
              <a:rPr sz="1000">
                <a:solidFill>
                  <a:srgbClr val="1E293B"/>
                </a:solidFill>
                <a:latin typeface="Calibri"/>
              </a:rPr>
              <a:t>SEABOX runs directly in any modern browser at 60 FPS, rendering the continuous ocean water column from 0 to 2000m.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• In-Situ Argo Co-Visualization: </a:t>
            </a:r>
            <a:r>
              <a:rPr sz="1000">
                <a:solidFill>
                  <a:srgbClr val="1E293B"/>
                </a:solidFill>
                <a:latin typeface="Calibri"/>
              </a:rPr>
              <a:t>Simultaneously renders 3D Argo profiling floats with interactive depth tethers and instant vertical CTD profile graphs.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• Dynamic Slicing &amp; Exaggeration: </a:t>
            </a:r>
            <a:r>
              <a:rPr sz="1000">
                <a:solidFill>
                  <a:srgbClr val="1E293B"/>
                </a:solidFill>
                <a:latin typeface="Calibri"/>
              </a:rPr>
              <a:t>Seamless discrete depth layers (0m, 100m, 200m, 500m, 1000m, 2000m) with 1x–50x dynamic vertical scale and Viridis colormaps.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035040" y="4343400"/>
            <a:ext cx="557784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6" name="Picture 15365" descr="qr_code_proto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434840"/>
            <a:ext cx="1600200" cy="1600200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7955279" y="44348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77B6"/>
                </a:solidFill>
                <a:latin typeface="Trebuchet MS"/>
              </a:defRPr>
            </a:pPr>
            <a:r>
              <a:t>SCAN FOR WORKING PROTOTYPE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Interactive 3D WebGL Hydrodynamic Engine</a:t>
            </a:r>
            <a:br/>
            <a:r>
              <a:t>• Live INCOIS Temperature &amp; Salinity Slicer</a:t>
            </a:r>
            <a:br/>
            <a:r>
              <a:t>• Real-Time Argo Profiler Telemetry</a:t>
            </a:r>
            <a:br/>
            <a:r>
              <a:t>• URL: github.com/shibajyotimaity/SEABOX-OceanView3D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A2540"/>
                </a:solidFill>
                <a:latin typeface="Trebuchet MS"/>
              </a:defRPr>
            </a:pPr>
            <a:r>
              <a:t>TECHNICAL APPROACH, TECH STACK &amp; UI DASHBOARDS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JAVA AND</a:t>
            </a:r>
          </a:p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SCRIPTS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097280"/>
            <a:ext cx="4023360" cy="237744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077B6"/>
                </a:solidFill>
                <a:latin typeface="Trebuchet MS"/>
              </a:defRPr>
            </a:pPr>
            <a:r>
              <a:t>METHODOLOGY &amp; PIPELINE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1. Data Ingestion: </a:t>
            </a:r>
            <a:r>
              <a:rPr sz="900">
                <a:solidFill>
                  <a:srgbClr val="1E293B"/>
                </a:solidFill>
              </a:rPr>
              <a:t>INCOIS HYCOM 3D gridded fields (0–2000m) &amp; live Argo CTD profiles ingested.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2. Normalization &amp; Array Slicing: </a:t>
            </a:r>
            <a:r>
              <a:rPr sz="900">
                <a:solidFill>
                  <a:srgbClr val="1E293B"/>
                </a:solidFill>
              </a:rPr>
              <a:t>NetCDF/binary grids extracted into optimized multi-depth float arrays.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3. WebGL GPU Rendering: </a:t>
            </a:r>
            <a:r>
              <a:rPr sz="900">
                <a:solidFill>
                  <a:srgbClr val="1E293B"/>
                </a:solidFill>
              </a:rPr>
              <a:t>Custom Three.js shaders map physical scalar fields to Viridis colormap textures at 60 FPS.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3566160"/>
            <a:ext cx="402336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077B6"/>
                </a:solidFill>
                <a:latin typeface="Trebuchet MS"/>
              </a:defRPr>
            </a:pPr>
            <a:r>
              <a:t>TECH STACK (FRONTEND &amp; BACKEND)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Frontend: </a:t>
            </a:r>
            <a:r>
              <a:rPr sz="900">
                <a:solidFill>
                  <a:srgbClr val="1E293B"/>
                </a:solidFill>
              </a:rPr>
              <a:t>Three.js (WebGL 3D Engine), HTML5 Canvas, Vanilla JS ES6+, Vite, CSS3 Glassmorphism.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Backend/Data: </a:t>
            </a:r>
            <a:r>
              <a:rPr sz="900">
                <a:solidFill>
                  <a:srgbClr val="1E293B"/>
                </a:solidFill>
              </a:rPr>
              <a:t>Python (Xarray, NetCDF4, NumPy), REST JSON Streaming, GeoJSON Coastlines.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Scientific Data: </a:t>
            </a:r>
            <a:r>
              <a:rPr sz="900">
                <a:solidFill>
                  <a:srgbClr val="1E293B"/>
                </a:solidFill>
              </a:rPr>
              <a:t>INCOIS Indian Ocean Model, HYCOM Hydrodynamics, Global Argo Program CTD.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UI UX: </a:t>
            </a:r>
            <a:r>
              <a:rPr sz="900">
                <a:solidFill>
                  <a:srgbClr val="1E293B"/>
                </a:solidFill>
              </a:rPr>
              <a:t>Dynamic Depth Chips (0-2000m), Orbit Controls, Responsive Telemetry Bar.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754880" y="1097280"/>
            <a:ext cx="68580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846320" y="1143000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Trebuchet MS"/>
              </a:defRPr>
            </a:pPr>
            <a:r>
              <a:t>SEABOX INTERACTIVE UI &amp; 3D DASHBOARD</a:t>
            </a:r>
          </a:p>
        </p:txBody>
      </p:sp>
      <p:pic>
        <p:nvPicPr>
          <p:cNvPr id="17415" name="Picture 17414" descr="ui_dashboard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508760"/>
            <a:ext cx="3931920" cy="2331720"/>
          </a:xfrm>
          <a:prstGeom prst="rect">
            <a:avLst/>
          </a:prstGeom>
        </p:spPr>
      </p:pic>
      <p:pic>
        <p:nvPicPr>
          <p:cNvPr id="17416" name="Picture 17415" descr="ui_depth_200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1508760"/>
            <a:ext cx="2606040" cy="2331720"/>
          </a:xfrm>
          <a:prstGeom prst="rect">
            <a:avLst/>
          </a:prstGeom>
        </p:spPr>
      </p:pic>
      <p:sp>
        <p:nvSpPr>
          <p:cNvPr id="17417" name="Rounded Rectangle 17416"/>
          <p:cNvSpPr/>
          <p:nvPr/>
        </p:nvSpPr>
        <p:spPr>
          <a:xfrm>
            <a:off x="4892040" y="3931920"/>
            <a:ext cx="6583680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spcAft>
                <a:spcPts val="300"/>
              </a:spcAft>
              <a:defRPr sz="1150" b="1">
                <a:solidFill>
                  <a:srgbClr val="0077B6"/>
                </a:solidFill>
                <a:latin typeface="Trebuchet MS"/>
              </a:defRPr>
            </a:pPr>
            <a:r>
              <a:t>IMPLEMENTATION FLOW &amp; SCIENTIFIC FEATURES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Step 1: Ingest NetCDF &amp; Argo Telemetry </a:t>
            </a:r>
            <a:r>
              <a:rPr sz="900">
                <a:solidFill>
                  <a:srgbClr val="1E293B"/>
                </a:solidFill>
              </a:rPr>
              <a:t>-&gt; Multi-depth gridded arrays parsed in memory.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Step 2: WebGL GPU Volumetric Generation </a:t>
            </a:r>
            <a:r>
              <a:rPr sz="900">
                <a:solidFill>
                  <a:srgbClr val="1E293B"/>
                </a:solidFill>
              </a:rPr>
              <a:t>-&gt; Layered meshes with Viridis transfer colormaps.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Step 3: Interactive Subsurface Exploration </a:t>
            </a:r>
            <a:r>
              <a:rPr sz="900">
                <a:solidFill>
                  <a:srgbClr val="1E293B"/>
                </a:solidFill>
              </a:rPr>
              <a:t>-&gt; Depth chips (0-2000m), 1x-50x vertical exaggeration, Argo float CTD modal inspection &amp; 60 FPS orbit controls.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A2540"/>
                </a:solidFill>
                <a:latin typeface="Trebuchet MS"/>
              </a:defRPr>
            </a:pPr>
            <a:r>
              <a:t>IMPACT ON RESEARCH &amp; STRATEGIC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JAVA AND</a:t>
            </a:r>
          </a:p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SCRIPTS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097280"/>
            <a:ext cx="6035040" cy="502920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500"/>
              </a:spcAft>
              <a:defRPr sz="1300" b="1">
                <a:solidFill>
                  <a:srgbClr val="0077B6"/>
                </a:solidFill>
                <a:latin typeface="Trebuchet MS"/>
              </a:defRPr>
            </a:pPr>
            <a:r>
              <a:t>OPERATIONAL &amp; SCIENTIFIC BENEFITS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• 70%+ Faster Analysis Turnaround: </a:t>
            </a:r>
            <a:r>
              <a:rPr sz="950">
                <a:solidFill>
                  <a:srgbClr val="1E293B"/>
                </a:solidFill>
              </a:rPr>
              <a:t>Replaces 4+ fragmented desktop GIS / NetCDF viewers with an instantaneous 3D browser workspace.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• Thermocline &amp; Upwelling Insight: </a:t>
            </a:r>
            <a:r>
              <a:rPr sz="950">
                <a:solidFill>
                  <a:srgbClr val="1E293B"/>
                </a:solidFill>
              </a:rPr>
              <a:t>Instant volumetric visibility into thermocline gradients, mixed-layer dynamics, and marine heatwave propagation.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• Real-Time Float Validation: </a:t>
            </a:r>
            <a:r>
              <a:rPr sz="950">
                <a:solidFill>
                  <a:srgbClr val="1E293B"/>
                </a:solidFill>
              </a:rPr>
              <a:t>Empowers INCOIS scientists to cross-validate HYCOM numerical forecasts against physical in-situ Argo floats.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300" b="1">
                <a:solidFill>
                  <a:srgbClr val="0077B6"/>
                </a:solidFill>
                <a:latin typeface="Trebuchet MS"/>
              </a:defRPr>
            </a:pPr>
            <a:r>
              <a:t>ECONOMIC &amp; STRATEGIC GAINS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• Blue Economy &amp; Fisheries (PFZ): </a:t>
            </a:r>
            <a:r>
              <a:rPr sz="950">
                <a:solidFill>
                  <a:srgbClr val="1E293B"/>
                </a:solidFill>
              </a:rPr>
              <a:t>Provides high-resolution subsurface habitat telemetry directly supporting coastal fishermen and maritime advisories.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• Sovereign Strategic Security: </a:t>
            </a:r>
            <a:r>
              <a:rPr sz="950">
                <a:solidFill>
                  <a:srgbClr val="1E293B"/>
                </a:solidFill>
              </a:rPr>
              <a:t>Aids Indian Navy acoustic depth channel / sonar shadow zone planning through 3D temperature-salinity stratification.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• Zero Licensing Overhead: </a:t>
            </a:r>
            <a:r>
              <a:rPr sz="950">
                <a:solidFill>
                  <a:srgbClr val="1E293B"/>
                </a:solidFill>
              </a:rPr>
              <a:t>100% open-source web stack deployable on national sovereign cloud infrastructures.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766560" y="1097280"/>
            <a:ext cx="48463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3" name="Picture 17412" descr="impact_pie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234440"/>
            <a:ext cx="4663440" cy="393192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858000" y="52578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0A2540"/>
                </a:solidFill>
                <a:latin typeface="Calibri"/>
              </a:defRPr>
            </a:pPr>
            <a:r>
              <a:t>Key Takeaway: SEABOX drives a 35% boost in rapid oceanographic event detection and saves over 15+ hours per researcher weekly in multi-sensor data correlation.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A2540"/>
                </a:solidFill>
                <a:latin typeface="Trebuchet MS"/>
              </a:defRPr>
            </a:pPr>
            <a:r>
              <a:t>FEASIBILITY, VIABILITY &amp; BENCHMARKS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JAVA AND</a:t>
            </a:r>
          </a:p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SCRIPTS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097280"/>
            <a:ext cx="5303520" cy="237744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077B6"/>
                </a:solidFill>
                <a:latin typeface="Trebuchet MS"/>
              </a:defRPr>
            </a:pPr>
            <a:r>
              <a:t>FEASIBILITY &amp; VIABILITY ANALYSIS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Technical: </a:t>
            </a:r>
            <a:r>
              <a:rPr sz="900">
                <a:solidFill>
                  <a:srgbClr val="1E293B"/>
                </a:solidFill>
              </a:rPr>
              <a:t>Native WebGL 2.0 supported on 99.4% of modern desktop &amp; mobile browsers without plugins.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Operational: </a:t>
            </a:r>
            <a:r>
              <a:rPr sz="900">
                <a:solidFill>
                  <a:srgbClr val="1E293B"/>
                </a:solidFill>
              </a:rPr>
              <a:t>Directly compatible with standardized NetCDF/CF-1.8 metadata formats used at INCOIS/MoES.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Financial: </a:t>
            </a:r>
            <a:r>
              <a:rPr sz="900">
                <a:solidFill>
                  <a:srgbClr val="1E293B"/>
                </a:solidFill>
              </a:rPr>
              <a:t>Zero proprietary GIS licensing costs; lightweight static edge deployment reduces server bills.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035040" y="109728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3" name="Picture 17412" descr="before_after_bar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143000"/>
            <a:ext cx="5394960" cy="2286000"/>
          </a:xfrm>
          <a:prstGeom prst="rect">
            <a:avLst/>
          </a:prstGeom>
        </p:spPr>
      </p:pic>
      <p:sp>
        <p:nvSpPr>
          <p:cNvPr id="17414" name="Rounded Rectangle 17413"/>
          <p:cNvSpPr/>
          <p:nvPr/>
        </p:nvSpPr>
        <p:spPr>
          <a:xfrm>
            <a:off x="548640" y="3611880"/>
            <a:ext cx="5303520" cy="251460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077B6"/>
                </a:solidFill>
                <a:latin typeface="Trebuchet MS"/>
              </a:defRPr>
            </a:pPr>
            <a:r>
              <a:t>WHAT-IF RESILIENCE SCENARIOS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What if network is low bandwidth? </a:t>
            </a:r>
            <a:r>
              <a:rPr sz="900">
                <a:solidFill>
                  <a:srgbClr val="1E293B"/>
                </a:solidFill>
              </a:rPr>
              <a:t>Progressive LOD (Level of Detail) data chunking with indexed binary arrays.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What if float data has missing cycles? </a:t>
            </a:r>
            <a:r>
              <a:rPr sz="900">
                <a:solidFill>
                  <a:srgbClr val="1E293B"/>
                </a:solidFill>
              </a:rPr>
              <a:t>Automatic scientific NaN interpolation and quality-flag visual indicators.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What if massive high-res grids load? </a:t>
            </a:r>
            <a:r>
              <a:rPr sz="900">
                <a:solidFill>
                  <a:srgbClr val="1E293B"/>
                </a:solidFill>
              </a:rPr>
              <a:t>GPU instanced mesh slicing with Web Worker background decompression.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035040" y="3611880"/>
            <a:ext cx="5577840" cy="251460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077B6"/>
                </a:solidFill>
                <a:latin typeface="Trebuchet MS"/>
              </a:defRPr>
            </a:pPr>
            <a:r>
              <a:t>STRATEGIES TO OVERCOME CHALLENGES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WebGL Memory Optimization: </a:t>
            </a:r>
            <a:r>
              <a:rPr sz="900">
                <a:solidFill>
                  <a:srgbClr val="1E293B"/>
                </a:solidFill>
              </a:rPr>
              <a:t>Shared buffer attributes and memory disposal hooks guarantee 60 FPS across low-tier hardware.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Interoperability Pipelines: </a:t>
            </a:r>
            <a:r>
              <a:rPr sz="900">
                <a:solidFill>
                  <a:srgbClr val="1E293B"/>
                </a:solidFill>
              </a:rPr>
              <a:t>Standard OGC WMS/GeoTIFF export bridges allow researchers to export 3D viewports to GIS tools.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Automated INCOIS Telemetry Ingestion: </a:t>
            </a:r>
            <a:r>
              <a:rPr sz="900">
                <a:solidFill>
                  <a:srgbClr val="1E293B"/>
                </a:solidFill>
              </a:rPr>
              <a:t>Python backend crons pull latest HYCOM &amp; Argo GDAC FTP feeds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A2540"/>
                </a:solidFill>
                <a:latin typeface="Trebuchet MS"/>
              </a:defRPr>
            </a:pPr>
            <a:r>
              <a:t>RESEARCH, REFERENCES &amp; PROJECT LINKS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JAVA AND</a:t>
            </a:r>
          </a:p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SCRIPTS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097280"/>
            <a:ext cx="11064240" cy="502920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077B6"/>
                </a:solidFill>
                <a:latin typeface="Trebuchet MS"/>
              </a:defRPr>
            </a:pPr>
            <a:r>
              <a:t>ACADEMIC &amp; SCIENTIFIC RESEARCH FOUNDATIONS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1. INCOIS Ocean State Forecasting System: </a:t>
            </a:r>
            <a:r>
              <a:rPr sz="950">
                <a:solidFill>
                  <a:srgbClr val="1E293B"/>
                </a:solidFill>
              </a:rPr>
              <a:t>Indian National Centre for Ocean Information Services, Ministry of Earth Sciences, Govt. of India. URL: https://incois.gov.in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2. Argo Float Global Data Assembly: </a:t>
            </a:r>
            <a:r>
              <a:rPr sz="950">
                <a:solidFill>
                  <a:srgbClr val="1E293B"/>
                </a:solidFill>
              </a:rPr>
              <a:t>Roemmich, D. et al., 'The Argo Program: Observing the Global Ocean with Profiling Floats', Oceanography 22(2). URL: https://argo.ucsd.edu | https://incois.gov.in/OOS/argo.jsp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3. HYCOM (Hybrid Coordinate Ocean Model): </a:t>
            </a:r>
            <a:r>
              <a:rPr sz="950">
                <a:solidFill>
                  <a:srgbClr val="1E293B"/>
                </a:solidFill>
              </a:rPr>
              <a:t>Bleck, R., 'An oceanic general circulation model framed in isopycnic coordinates', Ocean Modelling. URL: https://www.hycom.org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4. Scientific Visualization &amp; Perceptually Uniform Colormaps: </a:t>
            </a:r>
            <a:r>
              <a:rPr sz="950">
                <a:solidFill>
                  <a:srgbClr val="1E293B"/>
                </a:solidFill>
              </a:rPr>
              <a:t>van der Walt, S., et al., 'Viridis Colormaps for Scientific Visualization', IEEE Computing in Science &amp; Engineering. URL: https://bids.github.io/colormap/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5. WebGL 2.0 Specification &amp; Three.js 3D Engine: </a:t>
            </a:r>
            <a:r>
              <a:rPr sz="950">
                <a:solidFill>
                  <a:srgbClr val="1E293B"/>
                </a:solidFill>
              </a:rPr>
              <a:t>Khronos Group WebGL Standards &amp; Three.js Hydrodynamic Volumetric Rendering Pipeline. URL: https://www.khronos.org/webgl/ | https://threejs.org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0077B6"/>
                </a:solidFill>
                <a:latin typeface="Trebuchet MS"/>
              </a:defRPr>
            </a:pPr>
            <a:r>
              <a:t>OFFICIAL PROJECT REPOSITORY &amp; LIVE PROTOTYPE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A2540"/>
                </a:solidFill>
              </a:rPr>
              <a:t>• Working Prototype GitHub Repository: </a:t>
            </a:r>
            <a:r>
              <a:rPr sz="1000">
                <a:solidFill>
                  <a:srgbClr val="0077B6"/>
                </a:solidFill>
              </a:rPr>
              <a:t>https://github.com/shibajyotimaity/SEABOX-OceanView3D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A2540"/>
                </a:solidFill>
              </a:rPr>
              <a:t>• Live WebGL Interactive Application: </a:t>
            </a:r>
            <a:r>
              <a:rPr sz="1000">
                <a:solidFill>
                  <a:srgbClr val="0077B6"/>
                </a:solidFill>
              </a:rPr>
              <a:t>http://localhost:5173/ (OceanView 3D / SeaBox)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A2540"/>
                </a:solidFill>
              </a:rPr>
              <a:t>• Project Submission Format: </a:t>
            </a:r>
            <a:r>
              <a:rPr sz="1000">
                <a:solidFill>
                  <a:srgbClr val="0077B6"/>
                </a:solidFill>
              </a:rPr>
              <a:t>Smart India Hackathon 2026 - Idea Presentation Official Deck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